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63" r:id="rId6"/>
    <p:sldId id="264" r:id="rId7"/>
    <p:sldId id="265" r:id="rId8"/>
    <p:sldId id="266" r:id="rId9"/>
    <p:sldId id="273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6617" y="-275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2025 6</a:t>
            </a:r>
            <a:r>
              <a:rPr lang="en-US" sz="4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GLOBAL CONFERENCE FOR ADVANCEMENT IN TECHNOLOGY</a:t>
            </a: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(GCAT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51154"/>
            <a:ext cx="9144000" cy="325596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GB" sz="5400" b="1" spc="-1" dirty="0">
                <a:solidFill>
                  <a:srgbClr val="222222"/>
                </a:solidFill>
                <a:latin typeface="Consolas"/>
                <a:cs typeface="Arial"/>
              </a:rPr>
              <a:t>Hybrid Deep Learning Model Using Residual Attention and </a:t>
            </a:r>
            <a:r>
              <a:rPr lang="en-GB" sz="5400" b="1" spc="-1" dirty="0" err="1">
                <a:solidFill>
                  <a:srgbClr val="222222"/>
                </a:solidFill>
                <a:latin typeface="Consolas"/>
                <a:cs typeface="Arial"/>
              </a:rPr>
              <a:t>Bilstm</a:t>
            </a:r>
            <a:r>
              <a:rPr lang="en-GB" sz="5400" b="1" spc="-1" dirty="0">
                <a:solidFill>
                  <a:srgbClr val="222222"/>
                </a:solidFill>
                <a:latin typeface="Consolas"/>
                <a:cs typeface="Arial"/>
              </a:rPr>
              <a:t> For Accurate Ischemic Heart Disease Classification 
</a:t>
            </a:r>
            <a:endParaRPr lang="en-IN" dirty="0"/>
          </a:p>
          <a:p>
            <a:r>
              <a:rPr lang="en-US" dirty="0"/>
              <a:t> </a:t>
            </a:r>
            <a:br>
              <a:rPr lang="en-GB" sz="5400" spc="-1" dirty="0">
                <a:solidFill>
                  <a:srgbClr val="222222"/>
                </a:solidFill>
                <a:latin typeface="Consolas"/>
                <a:cs typeface="Arial"/>
              </a:rPr>
            </a:br>
            <a:br>
              <a:rPr lang="en-GB" dirty="0"/>
            </a:br>
            <a:endParaRPr lang="en-GB" dirty="0"/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Paper ID: 2423</a:t>
            </a:r>
          </a:p>
          <a:p>
            <a:r>
              <a:rPr lang="en-GB" b="1" spc="-1" dirty="0">
                <a:solidFill>
                  <a:srgbClr val="4C4C4C"/>
                </a:solidFill>
                <a:latin typeface="Arial"/>
                <a:cs typeface="Arial"/>
              </a:rPr>
              <a:t>Bhavana Vatram</a:t>
            </a:r>
          </a:p>
          <a:p>
            <a:r>
              <a:rPr lang="en-GB" b="1" spc="-1" dirty="0" err="1">
                <a:solidFill>
                  <a:srgbClr val="4C4C4C"/>
                </a:solidFill>
                <a:latin typeface="Arial"/>
                <a:cs typeface="Arial"/>
              </a:rPr>
              <a:t>Narasaraopeta</a:t>
            </a:r>
            <a:r>
              <a:rPr lang="en-GB" b="1" spc="-1" dirty="0">
                <a:solidFill>
                  <a:srgbClr val="4C4C4C"/>
                </a:solidFill>
                <a:latin typeface="Arial"/>
                <a:cs typeface="Arial"/>
              </a:rPr>
              <a:t> Engineering College</a:t>
            </a:r>
          </a:p>
          <a:p>
            <a:endParaRPr lang="en-GB" b="1" spc="-1" dirty="0">
              <a:solidFill>
                <a:srgbClr val="4C4C4C"/>
              </a:solidFill>
              <a:latin typeface="Arial"/>
              <a:ea typeface="Calibri" panose="020F0502020204030204"/>
              <a:cs typeface="Arial"/>
            </a:endParaRPr>
          </a:p>
          <a:p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9" y="281258"/>
            <a:ext cx="1637211" cy="868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572125"/>
            <a:ext cx="35528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/>
              <a:t>Introduction and Problem Statement</a:t>
            </a:r>
            <a:br>
              <a:rPr lang="en-IN" b="1" dirty="0"/>
            </a:br>
            <a:r>
              <a:rPr lang="en-IN" b="1" dirty="0"/>
              <a:t>Ischemic Heart Disease Challenge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Traditional Methods Limitations : </a:t>
            </a:r>
            <a:r>
              <a:rPr lang="en-US" sz="2400" dirty="0"/>
              <a:t>ECG, stress tests, and coronary angiography are expensive and not suitable for large-scale screening programs.</a:t>
            </a:r>
          </a:p>
          <a:p>
            <a:r>
              <a:rPr lang="en-US" b="1" dirty="0"/>
              <a:t>AI Solution Benefits: </a:t>
            </a:r>
            <a:r>
              <a:rPr lang="en-US" sz="2400" dirty="0"/>
              <a:t>AI-driven technologies offer faster, scalable, and cost-effective diagnostic assistance for cardiovascular disease detection.</a:t>
            </a:r>
          </a:p>
          <a:p>
            <a:r>
              <a:rPr lang="en-US" b="1" dirty="0"/>
              <a:t>Research Objectives : </a:t>
            </a:r>
            <a:r>
              <a:rPr lang="en-US" sz="2400" dirty="0"/>
              <a:t>Develop HRAE-LSTM model to address missing data, class imbalance, and feature scaling challenges in clinical datasets.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91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E7E6-6B65-F3CD-41D0-C3FEAF34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Information and Characteristics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C6D4-50DA-AEA7-E8E7-BCD3CC4E0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43728" cy="4667250"/>
          </a:xfrm>
        </p:spPr>
        <p:txBody>
          <a:bodyPr>
            <a:normAutofit/>
          </a:bodyPr>
          <a:lstStyle/>
          <a:p>
            <a:r>
              <a:rPr lang="en-US" sz="3000" b="1" dirty="0"/>
              <a:t>Cleveland Heart Dataset</a:t>
            </a:r>
            <a:br>
              <a:rPr lang="en-US" sz="2400" b="1" dirty="0"/>
            </a:br>
            <a:r>
              <a:rPr lang="en-US" sz="2400" dirty="0"/>
              <a:t>Contains 303 medical records with 14 clinical attributes including age, sex, blood pressure, cholesterol levels, and ECG data</a:t>
            </a:r>
            <a:r>
              <a:rPr lang="en-US" sz="2600" dirty="0"/>
              <a:t>.</a:t>
            </a:r>
          </a:p>
          <a:p>
            <a:r>
              <a:rPr lang="en-US" sz="3000" b="1" dirty="0"/>
              <a:t>Clinical Parameters</a:t>
            </a:r>
            <a:br>
              <a:rPr lang="en-US" b="1" dirty="0"/>
            </a:br>
            <a:r>
              <a:rPr lang="en-US" sz="2400" dirty="0"/>
              <a:t>Features include chest pain types, fasting glucose, maximum heart rate, exercise-induced angina, and coronary vessel data.</a:t>
            </a: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9C592D-679A-0FEC-C03B-A47C81C25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1952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9923-A917-446A-849B-A54519EF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 Pipeline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65B77-AAC7-099D-CEB0-2F660B686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r>
              <a:rPr lang="en-US" b="1" dirty="0"/>
              <a:t>Exploratory Data Analysis : </a:t>
            </a:r>
            <a:r>
              <a:rPr lang="en-US" sz="2400" dirty="0"/>
              <a:t>Performed comprehensive EDA to identify anomalies and outliers using boxplots and heatmaps for data quality assessment.</a:t>
            </a:r>
          </a:p>
          <a:p>
            <a:r>
              <a:rPr lang="en-US" b="1" dirty="0"/>
              <a:t>KNN Imputation : </a:t>
            </a:r>
            <a:r>
              <a:rPr lang="en-US" sz="2400" dirty="0"/>
              <a:t>Applied K-Nearest Neighbors (k=5) to handle missing values in ‘</a:t>
            </a:r>
            <a:r>
              <a:rPr lang="en-US" sz="2400" dirty="0" err="1"/>
              <a:t>thal</a:t>
            </a:r>
            <a:r>
              <a:rPr lang="en-US" sz="2400" dirty="0"/>
              <a:t>' and 'ca' variables while preserving data relationships.</a:t>
            </a:r>
          </a:p>
          <a:p>
            <a:r>
              <a:rPr lang="en-US" b="1" dirty="0"/>
              <a:t>SMOTE-ENN Balancing : </a:t>
            </a:r>
            <a:r>
              <a:rPr lang="en-US" sz="2400" dirty="0"/>
              <a:t>Used SMOTE-ENN technique to address class imbalance by generating synthetic samples and removing noisy data points.</a:t>
            </a:r>
          </a:p>
          <a:p>
            <a:r>
              <a:rPr lang="en-US" b="1" dirty="0"/>
              <a:t>Feature Scaling : </a:t>
            </a:r>
            <a:r>
              <a:rPr lang="en-US" sz="2400" dirty="0"/>
              <a:t>Applied Standard Scaler to normalize features with mean=0 and standard deviation=1 for optimal LSTM training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56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53EB-B82F-A701-D2F0-EA636C07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HRAE-LSTM Architecture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DD90-DEA5-6AB2-401D-E8378408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4659059"/>
          </a:xfrm>
        </p:spPr>
        <p:txBody>
          <a:bodyPr>
            <a:normAutofit/>
          </a:bodyPr>
          <a:lstStyle/>
          <a:p>
            <a:r>
              <a:rPr lang="en-US" b="1" dirty="0"/>
              <a:t>Model Foundation : </a:t>
            </a:r>
            <a:r>
              <a:rPr lang="en-US" sz="2400" dirty="0"/>
              <a:t>HRAE-LSTM combines Residual Attention mechanisms with Bidirectional LSTM to capture temporal dependencies and prioritize important clinical features for accurate IHD classification.</a:t>
            </a:r>
          </a:p>
          <a:p>
            <a:r>
              <a:rPr lang="en-US" b="1" dirty="0"/>
              <a:t>Residual Attention : </a:t>
            </a:r>
            <a:r>
              <a:rPr lang="en-US" sz="2400" dirty="0"/>
              <a:t>Uses shortcut connections to retain essential information while enhancing discriminative features, ensuring important clinical parameters are prioritized without losing context.</a:t>
            </a:r>
          </a:p>
          <a:p>
            <a:r>
              <a:rPr lang="en-US" b="1" dirty="0"/>
              <a:t>Bidirectional LSTM : </a:t>
            </a:r>
            <a:r>
              <a:rPr lang="en-US" sz="2400" dirty="0"/>
              <a:t>Learns sequential dependencies in both forward and backward directions, capturing intricate temporal relationships among clinical parameters.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36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D31-1D7B-7B37-3694-F5389C59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Layer-by-Layer Architecture Details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39ED-E3AC-67F1-38CA-CDB3B91D3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28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Input Layer : </a:t>
            </a:r>
            <a:r>
              <a:rPr lang="en-US" sz="2400" dirty="0"/>
              <a:t>Receives preprocessed clinical features after KNN imputation, SMOTE-ENN balancing, and standard scaling normalization.</a:t>
            </a:r>
          </a:p>
          <a:p>
            <a:r>
              <a:rPr lang="en-US" b="1" dirty="0"/>
              <a:t>Residual Attention Layers :  </a:t>
            </a:r>
            <a:r>
              <a:rPr lang="en-US" sz="2400" dirty="0"/>
              <a:t>Multiple attention layers with residual connections that enhance feature discrimination while preserving original signal information.</a:t>
            </a:r>
          </a:p>
          <a:p>
            <a:r>
              <a:rPr lang="en-US" b="1" dirty="0"/>
              <a:t>BILSTM Processing : </a:t>
            </a:r>
            <a:r>
              <a:rPr lang="en-US" sz="2400" dirty="0"/>
              <a:t>Bidirectional LSTM captures temporal dependencies in both directions, learning complex patterns from clinical parameter sequences.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29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556B-1539-0B6A-E4FA-CE239A3E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Training Process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31B45-4210-97DA-AFCA-CF62E676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9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Five-Fold Cross Validation : </a:t>
            </a:r>
            <a:r>
              <a:rPr lang="en-US" sz="2400" dirty="0"/>
              <a:t>Dataset divided into 5 folds with each fold serving as test set once, ensuring robust model evaluation.</a:t>
            </a:r>
          </a:p>
          <a:p>
            <a:r>
              <a:rPr lang="en-IN" b="1" dirty="0"/>
              <a:t>Early Stopping Mechanism : </a:t>
            </a:r>
            <a:r>
              <a:rPr lang="en-IN" sz="2400" dirty="0"/>
              <a:t>Training stops when validation accuracy shows no improvement for consecutive epochs, preventing overfitting and optimizing performance.</a:t>
            </a:r>
          </a:p>
          <a:p>
            <a:r>
              <a:rPr lang="en-IN" b="1" dirty="0"/>
              <a:t>Dropout Regularization : </a:t>
            </a:r>
            <a:r>
              <a:rPr lang="en-IN" sz="2400" dirty="0"/>
              <a:t>Randomly drops neurons during training to reduce overfitting and improve model generalization on unseen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50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5B94-810A-1C26-FA8B-4A2F4211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Dense Layers Configuration</a:t>
            </a:r>
            <a:br>
              <a:rPr lang="en-IN" b="1" dirty="0"/>
            </a:br>
            <a:r>
              <a:rPr lang="en-IN" sz="3600" b="1" dirty="0">
                <a:latin typeface="+mn-lt"/>
              </a:rPr>
              <a:t>Feature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D353-E449-3E2F-2BC2-C95DE66E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Dense Layer 1: </a:t>
            </a:r>
            <a:r>
              <a:rPr lang="en-US" sz="2400" dirty="0"/>
              <a:t>Combines extracted features from </a:t>
            </a:r>
            <a:r>
              <a:rPr lang="en-US" sz="2400" dirty="0" err="1"/>
              <a:t>BiLSTM</a:t>
            </a:r>
            <a:r>
              <a:rPr lang="en-US" sz="2400" dirty="0"/>
              <a:t> layer and applies non-linear transformations for improved class separability.</a:t>
            </a:r>
          </a:p>
          <a:p>
            <a:r>
              <a:rPr lang="en-US" b="1" dirty="0"/>
              <a:t>Dense Layer 2: </a:t>
            </a:r>
            <a:r>
              <a:rPr lang="en-US" sz="2400" dirty="0"/>
              <a:t>Further refines the feature representations and prepares them for final classification with additional non-linear mappings.</a:t>
            </a:r>
          </a:p>
          <a:p>
            <a:r>
              <a:rPr lang="en-US" b="1" dirty="0"/>
              <a:t>Output Layer: </a:t>
            </a:r>
            <a:r>
              <a:rPr lang="en-US" sz="2400" dirty="0"/>
              <a:t>Uses Sigmoid Activation to compute IHD probability in range [0,1], where values near 1 indicate higher disease likelihood.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67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BBC8-89F9-193A-D76C-E9EF887C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and Future Scope</a:t>
            </a:r>
            <a:br>
              <a:rPr lang="en-IN" b="1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1521A8-CBC6-5A40-5B19-CE6CD0E5E7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2051388"/>
            <a:ext cx="5181600" cy="388152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D0721-2127-6502-B346-658604FBA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234440"/>
            <a:ext cx="5654040" cy="6135624"/>
          </a:xfrm>
        </p:spPr>
        <p:txBody>
          <a:bodyPr>
            <a:normAutofit/>
          </a:bodyPr>
          <a:lstStyle/>
          <a:p>
            <a:r>
              <a:rPr lang="en-US" b="1" dirty="0"/>
              <a:t>Outstanding Results</a:t>
            </a:r>
          </a:p>
          <a:p>
            <a:r>
              <a:rPr lang="en-US" sz="2400" dirty="0"/>
              <a:t>HRAE-LSTM achieved 98.9% accuracy and perfect AUC score of 1.00, significantly outperforming traditional machine learning methods and other deep learning approaches.</a:t>
            </a:r>
          </a:p>
          <a:p>
            <a:r>
              <a:rPr lang="en-US" sz="2400" b="1" dirty="0">
                <a:latin typeface="+mj-lt"/>
              </a:rPr>
              <a:t>Future: IoT wearable device integration for real-time monitoring</a:t>
            </a:r>
            <a:endParaRPr lang="en-US" sz="2400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Future: Explainable AI frameworks (SHAP) for clinical applicability</a:t>
            </a:r>
            <a:endParaRPr lang="en-US" sz="2400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Future: Federated learning for privacy-preserving collaborative diagnostics</a:t>
            </a:r>
            <a:endParaRPr lang="en-US" sz="2400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006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CCA4-E82E-8AF4-3C6C-A887AD3B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2568829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</a:t>
            </a:r>
            <a:r>
              <a:rPr lang="en-IN" b="1" dirty="0">
                <a:latin typeface="+mn-lt"/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2000906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607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2025 6th  GLOBAL CONFERENCE FOR ADVANCEMENT IN TECHNOLOGY (GCAT 2025)</vt:lpstr>
      <vt:lpstr>Introduction and Problem Statement Ischemic Heart Disease Challenge </vt:lpstr>
      <vt:lpstr>Dataset Information and Characteristics</vt:lpstr>
      <vt:lpstr>Data Preprocessing Pipeline </vt:lpstr>
      <vt:lpstr>HRAE-LSTM Architecture Overview </vt:lpstr>
      <vt:lpstr>Layer-by-Layer Architecture Details </vt:lpstr>
      <vt:lpstr>Model Training Process </vt:lpstr>
      <vt:lpstr>Dense Layers Configuration Feature Integration</vt:lpstr>
      <vt:lpstr>Results and Future Scope </vt:lpstr>
      <vt:lpstr>                          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vatram bhavana</cp:lastModifiedBy>
  <cp:revision>41</cp:revision>
  <dcterms:created xsi:type="dcterms:W3CDTF">2021-06-10T05:32:34Z</dcterms:created>
  <dcterms:modified xsi:type="dcterms:W3CDTF">2025-10-24T02:07:25Z</dcterms:modified>
</cp:coreProperties>
</file>