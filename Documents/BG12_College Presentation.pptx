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85" r:id="rId6"/>
    <p:sldId id="259" r:id="rId7"/>
    <p:sldId id="287" r:id="rId8"/>
    <p:sldId id="260" r:id="rId9"/>
    <p:sldId id="261" r:id="rId10"/>
    <p:sldId id="262" r:id="rId11"/>
    <p:sldId id="263" r:id="rId12"/>
    <p:sldId id="288" r:id="rId13"/>
    <p:sldId id="264" r:id="rId14"/>
    <p:sldId id="289" r:id="rId15"/>
    <p:sldId id="265" r:id="rId16"/>
    <p:sldId id="290" r:id="rId17"/>
    <p:sldId id="266" r:id="rId18"/>
    <p:sldId id="267" r:id="rId19"/>
    <p:sldId id="268" r:id="rId20"/>
    <p:sldId id="291" r:id="rId21"/>
    <p:sldId id="292" r:id="rId22"/>
    <p:sldId id="293" r:id="rId23"/>
    <p:sldId id="269" r:id="rId24"/>
    <p:sldId id="294" r:id="rId25"/>
    <p:sldId id="270" r:id="rId26"/>
    <p:sldId id="299" r:id="rId27"/>
    <p:sldId id="272" r:id="rId28"/>
    <p:sldId id="303" r:id="rId29"/>
    <p:sldId id="298" r:id="rId30"/>
    <p:sldId id="301" r:id="rId31"/>
    <p:sldId id="300" r:id="rId32"/>
    <p:sldId id="304" r:id="rId33"/>
    <p:sldId id="305" r:id="rId34"/>
    <p:sldId id="276" r:id="rId35"/>
    <p:sldId id="278" r:id="rId36"/>
    <p:sldId id="279" r:id="rId37"/>
    <p:sldId id="280" r:id="rId38"/>
    <p:sldId id="281" r:id="rId39"/>
    <p:sldId id="282" r:id="rId40"/>
    <p:sldId id="306" r:id="rId41"/>
    <p:sldId id="283" r:id="rId42"/>
    <p:sldId id="28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94" autoAdjust="0"/>
    <p:restoredTop sz="94660"/>
  </p:normalViewPr>
  <p:slideViewPr>
    <p:cSldViewPr snapToGrid="0">
      <p:cViewPr varScale="1">
        <p:scale>
          <a:sx n="73" d="100"/>
          <a:sy n="73" d="100"/>
        </p:scale>
        <p:origin x="40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ECA0D10-5CD5-44A9-B2E1-F1CE98F4B2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1ECA0D10-5CD5-44A9-B2E1-F1CE98F4B2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1ECA0D10-5CD5-44A9-B2E1-F1CE98F4B2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lstStyle/>
          <a:p>
            <a:fld id="{1ECA0D10-5CD5-44A9-B2E1-F1CE98F4B2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lstStyle/>
          <a:p>
            <a:fld id="{1ECA0D10-5CD5-44A9-B2E1-F1CE98F4B22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ECA0D10-5CD5-44A9-B2E1-F1CE98F4B22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CA0D10-5CD5-44A9-B2E1-F1CE98F4B22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ECA0D10-5CD5-44A9-B2E1-F1CE98F4B2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1ECA0D10-5CD5-44A9-B2E1-F1CE98F4B22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1ECA0D10-5CD5-44A9-B2E1-F1CE98F4B2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1ECA0D10-5CD5-44A9-B2E1-F1CE98F4B22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ACEEDC-30DC-4A8B-A744-B8DE883DD0A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CA0D10-5CD5-44A9-B2E1-F1CE98F4B226}"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ACEEDC-30DC-4A8B-A744-B8DE883DD0A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917400"/>
            <a:ext cx="9269896" cy="5324374"/>
          </a:xfrm>
        </p:spPr>
        <p:txBody>
          <a:bodyPr>
            <a:normAutofit/>
          </a:bodyPr>
          <a:lstStyle/>
          <a:p>
            <a:pPr>
              <a:spcBef>
                <a:spcPct val="20000"/>
              </a:spcBef>
              <a:defRPr/>
            </a:pPr>
            <a:br>
              <a:rPr lang="en-US" sz="2400" b="1" dirty="0" smtClean="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br>
              <a:rPr lang="en-US" sz="2400" b="1" dirty="0" smtClean="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64974" y="1137211"/>
            <a:ext cx="9144000" cy="5903843"/>
          </a:xfrm>
        </p:spPr>
        <p:txBody>
          <a:bodyPr>
            <a:normAutofit lnSpcReduction="10000"/>
          </a:bodyPr>
          <a:lstStyle/>
          <a:p>
            <a:r>
              <a:rPr lang="en-US" sz="1800" b="1" dirty="0" smtClean="0">
                <a:latin typeface="Times New Roman" panose="02020603050405020304" pitchFamily="18" charset="0"/>
                <a:cs typeface="Times New Roman" panose="02020603050405020304" pitchFamily="18" charset="0"/>
              </a:rPr>
              <a:t>Department of Computer Science and Engineering</a:t>
            </a:r>
            <a:br>
              <a:rPr lang="en-US" sz="1800" b="1" dirty="0" smtClean="0">
                <a:latin typeface="Times New Roman" panose="02020603050405020304" pitchFamily="18" charset="0"/>
                <a:cs typeface="Times New Roman" panose="02020603050405020304" pitchFamily="18" charset="0"/>
              </a:rPr>
            </a:br>
            <a:br>
              <a:rPr lang="en-US" sz="1800" b="1" dirty="0" smtClean="0">
                <a:latin typeface="Times New Roman" panose="02020603050405020304" pitchFamily="18" charset="0"/>
                <a:cs typeface="Times New Roman" panose="02020603050405020304" pitchFamily="18" charset="0"/>
              </a:rPr>
            </a:br>
            <a:r>
              <a:rPr lang="en-IN" sz="2000" b="1" dirty="0">
                <a:solidFill>
                  <a:srgbClr val="FF0000"/>
                </a:solidFill>
              </a:rPr>
              <a:t>HYBRID DEEP LEARNING MODEL USING RESIDUAL ATTENTION AND BILSTM FOR ACCURATE ISCHEMIC HEART DISEASE </a:t>
            </a:r>
            <a:r>
              <a:rPr lang="en-IN" sz="2000" b="1" dirty="0" smtClean="0">
                <a:solidFill>
                  <a:srgbClr val="FF0000"/>
                </a:solidFill>
              </a:rPr>
              <a:t>CLASSIFICATION</a:t>
            </a:r>
            <a:endParaRPr lang="en-IN" sz="2000" b="1" dirty="0" smtClean="0">
              <a:solidFill>
                <a:srgbClr val="FF0000"/>
              </a:solidFill>
            </a:endParaRPr>
          </a:p>
          <a:p>
            <a:r>
              <a:rPr lang="en-US" altLang="en-US" sz="1400" dirty="0">
                <a:latin typeface="Times New Roman" panose="02020603050405020304" pitchFamily="18" charset="0"/>
                <a:cs typeface="Times New Roman" panose="02020603050405020304" pitchFamily="18" charset="0"/>
              </a:rPr>
              <a:t>PRESENTED BY</a:t>
            </a:r>
            <a:endParaRPr lang="en-US" altLang="en-US" sz="1400" dirty="0">
              <a:latin typeface="Times New Roman" panose="02020603050405020304" pitchFamily="18" charset="0"/>
              <a:cs typeface="Times New Roman" panose="02020603050405020304" pitchFamily="18" charset="0"/>
            </a:endParaRPr>
          </a:p>
          <a:p>
            <a:pPr algn="ctr"/>
            <a:r>
              <a:rPr lang="en-IN" sz="1600" dirty="0" err="1" smtClean="0"/>
              <a:t>Bhavana</a:t>
            </a:r>
            <a:r>
              <a:rPr lang="en-IN" sz="1600" dirty="0" smtClean="0"/>
              <a:t> </a:t>
            </a:r>
            <a:r>
              <a:rPr lang="en-IN" sz="1600" dirty="0" err="1" smtClean="0"/>
              <a:t>Vatram</a:t>
            </a:r>
            <a:r>
              <a:rPr lang="en-IN" sz="1600" dirty="0"/>
              <a:t> </a:t>
            </a:r>
            <a:r>
              <a:rPr lang="en-IN" sz="1600" dirty="0" smtClean="0"/>
              <a:t>    (22471A05D7)</a:t>
            </a:r>
            <a:endParaRPr lang="en-IN" sz="1600" dirty="0" smtClean="0"/>
          </a:p>
          <a:p>
            <a:pPr algn="ctr"/>
            <a:r>
              <a:rPr lang="en-IN" sz="1600" dirty="0" smtClean="0"/>
              <a:t> </a:t>
            </a:r>
            <a:r>
              <a:rPr lang="en-IN" sz="1600" dirty="0" err="1" smtClean="0"/>
              <a:t>Azhar</a:t>
            </a:r>
            <a:r>
              <a:rPr lang="en-IN" sz="1600" dirty="0" smtClean="0"/>
              <a:t> </a:t>
            </a:r>
            <a:r>
              <a:rPr lang="en-IN" sz="1600" dirty="0" err="1" smtClean="0"/>
              <a:t>Shaik</a:t>
            </a:r>
            <a:r>
              <a:rPr lang="en-IN" sz="1600" dirty="0" smtClean="0"/>
              <a:t> </a:t>
            </a:r>
            <a:r>
              <a:rPr lang="en-IN" sz="1600" dirty="0" err="1" smtClean="0"/>
              <a:t>Mothad</a:t>
            </a:r>
            <a:r>
              <a:rPr lang="en-IN" sz="1600" dirty="0"/>
              <a:t> </a:t>
            </a:r>
            <a:r>
              <a:rPr lang="en-IN" sz="1600" dirty="0" smtClean="0"/>
              <a:t>    (22471A05D2)</a:t>
            </a:r>
            <a:endParaRPr lang="en-IN" sz="1600" dirty="0" smtClean="0"/>
          </a:p>
          <a:p>
            <a:pPr algn="ctr"/>
            <a:r>
              <a:rPr lang="en-IN" sz="1600" dirty="0" err="1" smtClean="0"/>
              <a:t>Afreen</a:t>
            </a:r>
            <a:r>
              <a:rPr lang="en-IN" sz="1600" dirty="0" smtClean="0"/>
              <a:t> Neha </a:t>
            </a:r>
            <a:r>
              <a:rPr lang="en-IN" sz="1600" dirty="0" err="1" smtClean="0"/>
              <a:t>Shaik</a:t>
            </a:r>
            <a:r>
              <a:rPr lang="en-IN" sz="1600" dirty="0" smtClean="0"/>
              <a:t>     (22471A05C7)</a:t>
            </a:r>
            <a:endParaRPr lang="en-IN" sz="1600" dirty="0" smtClean="0"/>
          </a:p>
          <a:p>
            <a:r>
              <a:rPr lang="en-US" altLang="en-US" sz="1800" dirty="0" smtClean="0">
                <a:solidFill>
                  <a:srgbClr val="006600"/>
                </a:solidFill>
                <a:latin typeface="Times New Roman" panose="02020603050405020304" pitchFamily="18" charset="0"/>
                <a:cs typeface="Times New Roman" panose="02020603050405020304" pitchFamily="18" charset="0"/>
              </a:rPr>
              <a:t>Under the Guidance of,</a:t>
            </a:r>
            <a:endParaRPr lang="en-US" altLang="en-US" sz="1800" dirty="0" smtClean="0">
              <a:solidFill>
                <a:srgbClr val="006600"/>
              </a:solidFill>
              <a:latin typeface="Times New Roman" panose="02020603050405020304" pitchFamily="18" charset="0"/>
              <a:cs typeface="Times New Roman" panose="02020603050405020304" pitchFamily="18" charset="0"/>
            </a:endParaRPr>
          </a:p>
          <a:p>
            <a:r>
              <a:rPr lang="en-IN" sz="2000" b="1" dirty="0" err="1" smtClean="0"/>
              <a:t>Gayatri</a:t>
            </a:r>
            <a:r>
              <a:rPr lang="en-IN" sz="2000" b="1" dirty="0" smtClean="0"/>
              <a:t> </a:t>
            </a:r>
            <a:r>
              <a:rPr lang="en-IN" sz="2000" b="1" dirty="0" err="1" smtClean="0"/>
              <a:t>Panchumarthi</a:t>
            </a:r>
            <a:endParaRPr lang="en-US" altLang="en-US" sz="2000" b="1" dirty="0" smtClean="0">
              <a:solidFill>
                <a:srgbClr val="006600"/>
              </a:solidFill>
              <a:latin typeface="Times New Roman" panose="02020603050405020304" pitchFamily="18" charset="0"/>
              <a:cs typeface="Times New Roman" panose="02020603050405020304" pitchFamily="18" charset="0"/>
            </a:endParaRPr>
          </a:p>
          <a:p>
            <a:pPr>
              <a:lnSpc>
                <a:spcPct val="150000"/>
              </a:lnSpc>
              <a:spcBef>
                <a:spcPct val="20000"/>
              </a:spcBef>
            </a:pPr>
            <a:r>
              <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rPr>
              <a:t>Department of Computer Science and Engineering,</a:t>
            </a:r>
            <a:endPar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50000"/>
              </a:lnSpc>
              <a:spcBef>
                <a:spcPct val="20000"/>
              </a:spcBef>
            </a:pPr>
            <a:r>
              <a:rPr lang="en-US" altLang="en-US" sz="2000" dirty="0" err="1">
                <a:solidFill>
                  <a:schemeClr val="tx1">
                    <a:lumMod val="95000"/>
                    <a:lumOff val="5000"/>
                  </a:schemeClr>
                </a:solidFill>
                <a:latin typeface="Times New Roman" panose="02020603050405020304" pitchFamily="18" charset="0"/>
                <a:cs typeface="Times New Roman" panose="02020603050405020304" pitchFamily="18" charset="0"/>
              </a:rPr>
              <a:t>Narasaraopeta</a:t>
            </a:r>
            <a:r>
              <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rPr>
              <a:t> Engineering College (Autonomous),</a:t>
            </a:r>
            <a:endPar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50000"/>
              </a:lnSpc>
              <a:spcBef>
                <a:spcPct val="20000"/>
              </a:spcBef>
            </a:pPr>
            <a:r>
              <a:rPr lang="en-US" altLang="en-US" sz="2000" dirty="0" err="1">
                <a:solidFill>
                  <a:schemeClr val="tx1">
                    <a:lumMod val="95000"/>
                    <a:lumOff val="5000"/>
                  </a:schemeClr>
                </a:solidFill>
                <a:latin typeface="Times New Roman" panose="02020603050405020304" pitchFamily="18" charset="0"/>
                <a:cs typeface="Times New Roman" panose="02020603050405020304" pitchFamily="18" charset="0"/>
              </a:rPr>
              <a:t>Narasaraopet</a:t>
            </a:r>
            <a:r>
              <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rPr>
              <a:t>- 522 601.</a:t>
            </a:r>
            <a:endParaRPr lang="en-US" alt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br>
              <a:rPr lang="en-US" b="1" dirty="0" smtClean="0">
                <a:latin typeface="Times New Roman" panose="02020603050405020304" pitchFamily="18" charset="0"/>
                <a:cs typeface="Times New Roman" panose="02020603050405020304" pitchFamily="18" charset="0"/>
              </a:rPr>
            </a:br>
            <a:br>
              <a:rPr lang="en-US" b="1" dirty="0" smtClean="0">
                <a:latin typeface="Times New Roman" panose="02020603050405020304" pitchFamily="18" charset="0"/>
                <a:cs typeface="Times New Roman" panose="02020603050405020304" pitchFamily="18" charset="0"/>
              </a:rPr>
            </a:br>
            <a:endParaRPr lang="en-IN" dirty="0"/>
          </a:p>
        </p:txBody>
      </p:sp>
      <p:pic>
        <p:nvPicPr>
          <p:cNvPr id="4" name="Picture 3"/>
          <p:cNvPicPr>
            <a:picLocks noChangeAspect="1"/>
          </p:cNvPicPr>
          <p:nvPr/>
        </p:nvPicPr>
        <p:blipFill>
          <a:blip r:embed="rId1"/>
          <a:stretch>
            <a:fillRect/>
          </a:stretch>
        </p:blipFill>
        <p:spPr>
          <a:xfrm>
            <a:off x="259447" y="338230"/>
            <a:ext cx="3815596" cy="57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927" y="428873"/>
            <a:ext cx="10260873" cy="739200"/>
          </a:xfrm>
        </p:spPr>
        <p:txBody>
          <a:bodyPr/>
          <a:lstStyle/>
          <a:p>
            <a:pPr algn="ctr"/>
            <a:r>
              <a:rPr lang="en-US" b="1" dirty="0" smtClean="0"/>
              <a:t>OUTLINE</a:t>
            </a:r>
            <a:endParaRPr lang="en-IN" b="1" dirty="0"/>
          </a:p>
        </p:txBody>
      </p:sp>
      <p:sp>
        <p:nvSpPr>
          <p:cNvPr id="3" name="Content Placeholder 2"/>
          <p:cNvSpPr>
            <a:spLocks noGrp="1"/>
          </p:cNvSpPr>
          <p:nvPr>
            <p:ph idx="1"/>
          </p:nvPr>
        </p:nvSpPr>
        <p:spPr>
          <a:xfrm>
            <a:off x="809625" y="1167765"/>
            <a:ext cx="10544175" cy="5048885"/>
          </a:xfrm>
        </p:spPr>
        <p:txBody>
          <a:bodyPr>
            <a:noAutofit/>
          </a:bodyPr>
          <a:lstStyle/>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Abstract</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Introduction</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Literature Survey </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Research Gaps</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Problem Statement </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Objectives </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Block Diagram / Flow Diagram</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Methodology </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Results and Analysis </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Conclusion &amp; Future Scope</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References</a:t>
            </a:r>
            <a:endParaRPr lang="en-US"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400" dirty="0" smtClean="0">
                <a:latin typeface="Times New Roman" panose="02020603050405020304" pitchFamily="18" charset="0"/>
                <a:cs typeface="Times New Roman" panose="02020603050405020304" pitchFamily="18" charset="0"/>
              </a:rPr>
              <a:t>Acknowledgements.</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19727" y="216098"/>
            <a:ext cx="3810330" cy="5791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2508"/>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ABSTRACT</a:t>
            </a:r>
            <a:endParaRPr lang="en-IN" dirty="0"/>
          </a:p>
        </p:txBody>
      </p:sp>
      <p:sp>
        <p:nvSpPr>
          <p:cNvPr id="3" name="Content Placeholder 2"/>
          <p:cNvSpPr>
            <a:spLocks noGrp="1"/>
          </p:cNvSpPr>
          <p:nvPr>
            <p:ph idx="1"/>
          </p:nvPr>
        </p:nvSpPr>
        <p:spPr>
          <a:xfrm>
            <a:off x="649605" y="2187395"/>
            <a:ext cx="10515600" cy="4353106"/>
          </a:xfrm>
        </p:spPr>
        <p:txBody>
          <a:bodyPr>
            <a:normAutofit/>
          </a:bodyPr>
          <a:lstStyle/>
          <a:p>
            <a:pPr marL="0" indent="0" algn="just">
              <a:buNone/>
            </a:pPr>
            <a:r>
              <a:rPr lang="en-US" altLang="en-US" sz="2400" dirty="0">
                <a:latin typeface="Times New Roman" panose="02020603050405020304" pitchFamily="18" charset="0"/>
                <a:cs typeface="Times New Roman" panose="02020603050405020304" pitchFamily="18" charset="0"/>
              </a:rPr>
              <a:t>Ischemic heart disease (IHD) is a major global health concern, creating a strong need for accurate and reliable diagnostic systems. This study introduces a deep learning model called HRAE–LSTM to improve early prediction of IHD using patient health data. The model integrates residual attention mechanisms with Bidirectional LSTM layers, allowing it to analyze data in both forward and backward directions and learn complex patterns effectively. An attention mechanism helps focus on the most relevant features, improving interpretability for medical decision-making.Missing values in the dataset are handled using K-Nearest Neighbors (KNN) imputation, which estimates missing data by identifying similar patient records. </a:t>
            </a:r>
            <a:endParaRPr lang="en-US" alt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19726" y="190999"/>
            <a:ext cx="3810330" cy="579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latin typeface="Times New Roman" panose="02020603050405020304" pitchFamily="18" charset="0"/>
                <a:cs typeface="Times New Roman" panose="02020603050405020304" pitchFamily="18" charset="0"/>
                <a:sym typeface="+mn-ea"/>
              </a:rPr>
              <a:t>ABSTRACT</a:t>
            </a:r>
            <a:endParaRPr lang="en-US"/>
          </a:p>
        </p:txBody>
      </p:sp>
      <p:sp>
        <p:nvSpPr>
          <p:cNvPr id="3" name="Content Placeholder 2"/>
          <p:cNvSpPr>
            <a:spLocks noGrp="1"/>
          </p:cNvSpPr>
          <p:nvPr>
            <p:ph idx="1"/>
          </p:nvPr>
        </p:nvSpPr>
        <p:spPr/>
        <p:txBody>
          <a:bodyPr>
            <a:normAutofit/>
          </a:bodyPr>
          <a:p>
            <a:pPr marL="0" indent="0" algn="just">
              <a:buNone/>
            </a:pPr>
            <a:r>
              <a:rPr lang="en-US" altLang="en-US" sz="2400" dirty="0">
                <a:latin typeface="Times New Roman" panose="02020603050405020304" pitchFamily="18" charset="0"/>
                <a:cs typeface="Times New Roman" panose="02020603050405020304" pitchFamily="18" charset="0"/>
                <a:sym typeface="+mn-ea"/>
              </a:rPr>
              <a:t>The model is trained using the UCI Heart Disease dataset containing 14 important clinical attributes such as age, blood pressure, cholesterol, and maximum heart rate. To handle class imbalance and ensure reliable evaluation, SMOTE-ENN and stratified cross-validation techniques are applied.</a:t>
            </a:r>
            <a:endParaRPr lang="en-US" altLang="en-US" sz="2400" dirty="0">
              <a:latin typeface="Times New Roman" panose="02020603050405020304" pitchFamily="18" charset="0"/>
              <a:cs typeface="Times New Roman" panose="02020603050405020304" pitchFamily="18" charset="0"/>
              <a:sym typeface="+mn-ea"/>
            </a:endParaRPr>
          </a:p>
          <a:p>
            <a:pPr marL="0" indent="0" algn="just">
              <a:buNone/>
            </a:pPr>
            <a:endParaRPr lang="en-US" altLang="en-US" sz="2400" dirty="0">
              <a:latin typeface="Times New Roman" panose="02020603050405020304" pitchFamily="18" charset="0"/>
              <a:cs typeface="Times New Roman" panose="02020603050405020304" pitchFamily="18" charset="0"/>
            </a:endParaRPr>
          </a:p>
          <a:p>
            <a:pPr marL="0" indent="0" algn="just">
              <a:buNone/>
            </a:pPr>
            <a:r>
              <a:rPr lang="en-US" altLang="en-US" sz="2400" dirty="0">
                <a:latin typeface="Times New Roman" panose="02020603050405020304" pitchFamily="18" charset="0"/>
                <a:cs typeface="Times New Roman" panose="02020603050405020304" pitchFamily="18" charset="0"/>
                <a:sym typeface="+mn-ea"/>
              </a:rPr>
              <a:t>The proposed HRAE–LSTM model achieves 98.9 percent accuracy with an AUC score of 1.00, outperforming traditional machine learning methods such as Random Forest, SVM, AdaBoost, and deep learning models like CNN-GRU, showing strong potential for real-world clinical diagnosis of ischemic heart disease.</a:t>
            </a:r>
            <a:endParaRPr lang="en-US" altLang="en-US" sz="2400" dirty="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
        <p:nvSpPr>
          <p:cNvPr id="4" name="Text Box 3"/>
          <p:cNvSpPr txBox="1"/>
          <p:nvPr/>
        </p:nvSpPr>
        <p:spPr>
          <a:xfrm>
            <a:off x="394970" y="878840"/>
            <a:ext cx="4064000" cy="368300"/>
          </a:xfrm>
          <a:prstGeom prst="rect">
            <a:avLst/>
          </a:prstGeom>
          <a:noFill/>
        </p:spPr>
        <p:txBody>
          <a:bodyPr wrap="square" rtlCol="0">
            <a:spAutoFit/>
          </a:bodyPr>
          <a:p>
            <a:endParaRPr lang="en-US"/>
          </a:p>
        </p:txBody>
      </p:sp>
      <p:pic>
        <p:nvPicPr>
          <p:cNvPr id="5" name="Picture 4"/>
          <p:cNvPicPr>
            <a:picLocks noChangeAspect="1"/>
          </p:cNvPicPr>
          <p:nvPr/>
        </p:nvPicPr>
        <p:blipFill>
          <a:blip r:embed="rId1"/>
          <a:stretch>
            <a:fillRect/>
          </a:stretch>
        </p:blipFill>
        <p:spPr>
          <a:xfrm>
            <a:off x="219726" y="190999"/>
            <a:ext cx="3810330" cy="5791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INTRODUCTION</a:t>
            </a:r>
            <a:endParaRPr lang="en-IN" dirty="0"/>
          </a:p>
        </p:txBody>
      </p:sp>
      <p:sp>
        <p:nvSpPr>
          <p:cNvPr id="3" name="Content Placeholder 2"/>
          <p:cNvSpPr>
            <a:spLocks noGrp="1"/>
          </p:cNvSpPr>
          <p:nvPr>
            <p:ph idx="1"/>
          </p:nvPr>
        </p:nvSpPr>
        <p:spPr>
          <a:xfrm>
            <a:off x="838200" y="2030730"/>
            <a:ext cx="10515600" cy="4497705"/>
          </a:xfrm>
        </p:spPr>
        <p:txBody>
          <a:bodyPr>
            <a:normAutofit/>
          </a:bodyPr>
          <a:lstStyle/>
          <a:p>
            <a:pPr marL="0" indent="0" algn="just">
              <a:buNone/>
            </a:pPr>
            <a:r>
              <a:rPr lang="en-US" altLang="en-US" sz="2400" dirty="0">
                <a:latin typeface="Times New Roman" panose="02020603050405020304" pitchFamily="18" charset="0"/>
                <a:cs typeface="Times New Roman" panose="02020603050405020304" pitchFamily="18" charset="0"/>
              </a:rPr>
              <a:t>Ischemic heart disease (IHD) remains the most common heart-related condition and a leading cause of global mortality, responsible for over 17.9 million deaths each year. It occurs when coronary arteries become narrowed or blocked, reducing blood flow to the heart muscle and leading to serious complications such as myocardial infarction and chronic heart failure. Early and accurate diagnosis is essential to reduce mortality and improve treatment outcomes.</a:t>
            </a:r>
            <a:endParaRPr lang="en-US" altLang="en-US" sz="2400" dirty="0">
              <a:latin typeface="Times New Roman" panose="02020603050405020304" pitchFamily="18" charset="0"/>
              <a:cs typeface="Times New Roman" panose="02020603050405020304" pitchFamily="18" charset="0"/>
            </a:endParaRPr>
          </a:p>
          <a:p>
            <a:pPr marL="0" indent="0" algn="just">
              <a:buNone/>
            </a:pPr>
            <a:r>
              <a:rPr lang="en-US" altLang="en-US" sz="2400" dirty="0">
                <a:latin typeface="Times New Roman" panose="02020603050405020304" pitchFamily="18" charset="0"/>
                <a:cs typeface="Times New Roman" panose="02020603050405020304" pitchFamily="18" charset="0"/>
              </a:rPr>
              <a:t>Conventional diagnostic techniques such as electrocardiograms, stress tests, and coronary angiography are widely used in clinical practice. However, these methods are expensive, require specialized equipment, and are not suitable for large-scale screening, particularly in underdeveloped regions.</a:t>
            </a:r>
            <a:endParaRPr lang="en-US" altLang="en-US" sz="2400" dirty="0">
              <a:latin typeface="Times New Roman" panose="02020603050405020304" pitchFamily="18" charset="0"/>
              <a:cs typeface="Times New Roman" panose="02020603050405020304" pitchFamily="18" charset="0"/>
            </a:endParaRPr>
          </a:p>
          <a:p>
            <a:pPr marL="0" indent="0" algn="just">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0" y="230188"/>
            <a:ext cx="3810330" cy="5791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08075" y="365125"/>
            <a:ext cx="10245725" cy="1325880"/>
          </a:xfrm>
        </p:spPr>
        <p:txBody>
          <a:bodyPr>
            <a:normAutofit/>
          </a:bodyPr>
          <a:p>
            <a:pPr algn="ctr"/>
            <a:r>
              <a:rPr lang="en-US" b="1">
                <a:latin typeface="Times New Roman" panose="02020603050405020304" pitchFamily="18" charset="0"/>
                <a:cs typeface="Times New Roman" panose="02020603050405020304" pitchFamily="18" charset="0"/>
                <a:sym typeface="+mn-ea"/>
              </a:rPr>
              <a:t>INTRODUCTION</a:t>
            </a:r>
            <a:endParaRPr lang="en-US"/>
          </a:p>
        </p:txBody>
      </p:sp>
      <p:sp>
        <p:nvSpPr>
          <p:cNvPr id="3" name="Content Placeholder 2"/>
          <p:cNvSpPr>
            <a:spLocks noGrp="1"/>
          </p:cNvSpPr>
          <p:nvPr>
            <p:ph idx="1"/>
          </p:nvPr>
        </p:nvSpPr>
        <p:spPr>
          <a:xfrm>
            <a:off x="838200" y="1442720"/>
            <a:ext cx="10515600" cy="5165725"/>
          </a:xfrm>
        </p:spPr>
        <p:txBody>
          <a:bodyPr>
            <a:normAutofit fontScale="90000"/>
          </a:bodyPr>
          <a:p>
            <a:pPr marL="0" indent="0" algn="just">
              <a:buNone/>
            </a:pPr>
            <a:r>
              <a:rPr lang="en-US" altLang="en-US" sz="2665" dirty="0">
                <a:latin typeface="Times New Roman" panose="02020603050405020304" pitchFamily="18" charset="0"/>
                <a:cs typeface="Times New Roman" panose="02020603050405020304" pitchFamily="18" charset="0"/>
                <a:sym typeface="+mn-ea"/>
              </a:rPr>
              <a:t>Recently, artificial intelligence-based approaches have gained attention for diagnosing heart-related conditions due to their speed, scalability, and cost-effectiveness. Despite their potential, real-world clinical datasets often suffer from challenges such as missing values, class imbalance, and feature scaling, which can negatively impact model performance. Effective data preprocessing is therefore crucial for reliable prediction.</a:t>
            </a:r>
            <a:endParaRPr lang="en-US" altLang="en-US" sz="2665" dirty="0">
              <a:latin typeface="Times New Roman" panose="02020603050405020304" pitchFamily="18" charset="0"/>
              <a:cs typeface="Times New Roman" panose="02020603050405020304" pitchFamily="18" charset="0"/>
            </a:endParaRPr>
          </a:p>
          <a:p>
            <a:pPr marL="0" indent="0" algn="just">
              <a:buNone/>
            </a:pPr>
            <a:r>
              <a:rPr lang="en-US" altLang="en-US" sz="2665" dirty="0">
                <a:latin typeface="Times New Roman" panose="02020603050405020304" pitchFamily="18" charset="0"/>
                <a:cs typeface="Times New Roman" panose="02020603050405020304" pitchFamily="18" charset="0"/>
                <a:sym typeface="+mn-ea"/>
              </a:rPr>
              <a:t>Missing data can be addressed using K-Nearest Neighbors imputation, while normalization improves training efficiency by scaling features uniformly. Class imbalance is handled using SMOTE-ENN, and stratified five-fold cross-validation ensures unbiased and reliable evaluation.</a:t>
            </a:r>
            <a:endParaRPr lang="en-US" altLang="en-US" sz="2665" dirty="0">
              <a:latin typeface="Times New Roman" panose="02020603050405020304" pitchFamily="18" charset="0"/>
              <a:cs typeface="Times New Roman" panose="02020603050405020304" pitchFamily="18" charset="0"/>
            </a:endParaRPr>
          </a:p>
          <a:p>
            <a:pPr marL="0" indent="0" algn="just">
              <a:buNone/>
            </a:pPr>
            <a:r>
              <a:rPr lang="en-US" altLang="en-US" sz="2665" dirty="0">
                <a:latin typeface="Times New Roman" panose="02020603050405020304" pitchFamily="18" charset="0"/>
                <a:cs typeface="Times New Roman" panose="02020603050405020304" pitchFamily="18" charset="0"/>
                <a:sym typeface="+mn-ea"/>
              </a:rPr>
              <a:t>To overcome limitations in existing models, the proposed work introduces a hybrid deep learning approach that integrates residual attention layers with Bidirectional LSTM to enhance predictive accuracy and interpretability in ischemic heart disease diagnosis.</a:t>
            </a:r>
            <a:endParaRPr lang="en-US" altLang="en-US" sz="2665" dirty="0">
              <a:latin typeface="Times New Roman" panose="02020603050405020304" pitchFamily="18" charset="0"/>
              <a:cs typeface="Times New Roman" panose="02020603050405020304" pitchFamily="18" charset="0"/>
            </a:endParaRPr>
          </a:p>
          <a:p>
            <a:endParaRPr lang="en-US" sz="2665">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26097" y="166780"/>
            <a:ext cx="3815596" cy="5791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9773"/>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dirty="0"/>
          </a:p>
        </p:txBody>
      </p:sp>
      <p:sp>
        <p:nvSpPr>
          <p:cNvPr id="3" name="Content Placeholder 2"/>
          <p:cNvSpPr>
            <a:spLocks noGrp="1"/>
          </p:cNvSpPr>
          <p:nvPr>
            <p:ph idx="1"/>
          </p:nvPr>
        </p:nvSpPr>
        <p:spPr>
          <a:xfrm>
            <a:off x="838200" y="1901061"/>
            <a:ext cx="10515600" cy="4351338"/>
          </a:xfrm>
        </p:spPr>
        <p:txBody>
          <a:bodyPr>
            <a:normAutofit/>
          </a:bodyPr>
          <a:lstStyle/>
          <a:p>
            <a:pPr marL="0" indent="0" algn="just">
              <a:buNone/>
            </a:pPr>
            <a:r>
              <a:rPr lang="en-IN" b="1" dirty="0" smtClean="0"/>
              <a:t>1. </a:t>
            </a:r>
            <a:r>
              <a:rPr lang="en-IN" b="1" dirty="0" smtClean="0">
                <a:latin typeface="Times New Roman" panose="02020603050405020304" pitchFamily="18" charset="0"/>
                <a:cs typeface="Times New Roman" panose="02020603050405020304" pitchFamily="18" charset="0"/>
              </a:rPr>
              <a:t>Deep Learning and Hybrid Models for Heart Disease Prediction</a:t>
            </a:r>
            <a:endParaRPr lang="en-IN" b="1"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Recent research has applied deep learning and hybrid models for ischemic heart disease (IHD) prediction. </a:t>
            </a:r>
            <a:r>
              <a:rPr lang="en-IN" sz="2400" dirty="0" err="1" smtClean="0">
                <a:latin typeface="Times New Roman" panose="02020603050405020304" pitchFamily="18" charset="0"/>
                <a:cs typeface="Times New Roman" panose="02020603050405020304" pitchFamily="18" charset="0"/>
              </a:rPr>
              <a:t>Cenitta</a:t>
            </a:r>
            <a:r>
              <a:rPr lang="en-IN" sz="2400" dirty="0" smtClean="0">
                <a:latin typeface="Times New Roman" panose="02020603050405020304" pitchFamily="18" charset="0"/>
                <a:cs typeface="Times New Roman" panose="02020603050405020304" pitchFamily="18" charset="0"/>
              </a:rPr>
              <a:t> et al. (2020) introduced HRAE-LSTM, combining LSTM with residual attention, achieving 97.71% accuracy on UCI data, though it relied on extensive </a:t>
            </a:r>
            <a:r>
              <a:rPr lang="en-IN" sz="2400" dirty="0" err="1" smtClean="0">
                <a:latin typeface="Times New Roman" panose="02020603050405020304" pitchFamily="18" charset="0"/>
                <a:cs typeface="Times New Roman" panose="02020603050405020304" pitchFamily="18" charset="0"/>
              </a:rPr>
              <a:t>labeled</a:t>
            </a:r>
            <a:r>
              <a:rPr lang="en-IN" sz="2400" dirty="0" smtClean="0">
                <a:latin typeface="Times New Roman" panose="02020603050405020304" pitchFamily="18" charset="0"/>
                <a:cs typeface="Times New Roman" panose="02020603050405020304" pitchFamily="18" charset="0"/>
              </a:rPr>
              <a:t> datasets. </a:t>
            </a:r>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Garcia-</a:t>
            </a:r>
            <a:r>
              <a:rPr lang="en-IN" sz="2400" dirty="0" err="1" smtClean="0">
                <a:latin typeface="Times New Roman" panose="02020603050405020304" pitchFamily="18" charset="0"/>
                <a:cs typeface="Times New Roman" panose="02020603050405020304" pitchFamily="18" charset="0"/>
              </a:rPr>
              <a:t>Ordas</a:t>
            </a:r>
            <a:r>
              <a:rPr lang="en-IN" sz="2400" dirty="0" smtClean="0">
                <a:latin typeface="Times New Roman" panose="02020603050405020304" pitchFamily="18" charset="0"/>
                <a:cs typeface="Times New Roman" panose="02020603050405020304" pitchFamily="18" charset="0"/>
              </a:rPr>
              <a:t> et al. (2019) used CNN-SAE for 90.09% accuracy but with limited features. Dritsas and </a:t>
            </a:r>
            <a:r>
              <a:rPr lang="en-IN" sz="2400" dirty="0" err="1" smtClean="0">
                <a:latin typeface="Times New Roman" panose="02020603050405020304" pitchFamily="18" charset="0"/>
                <a:cs typeface="Times New Roman" panose="02020603050405020304" pitchFamily="18" charset="0"/>
              </a:rPr>
              <a:t>Trigka</a:t>
            </a:r>
            <a:r>
              <a:rPr lang="en-IN" sz="2400" dirty="0" smtClean="0">
                <a:latin typeface="Times New Roman" panose="02020603050405020304" pitchFamily="18" charset="0"/>
                <a:cs typeface="Times New Roman" panose="02020603050405020304" pitchFamily="18" charset="0"/>
              </a:rPr>
              <a:t> (2019) applied CNN-GRU hybrids, facing dataset size limitations. </a:t>
            </a:r>
            <a:r>
              <a:rPr lang="en-IN" sz="2400" dirty="0" err="1" smtClean="0">
                <a:latin typeface="Times New Roman" panose="02020603050405020304" pitchFamily="18" charset="0"/>
                <a:cs typeface="Times New Roman" panose="02020603050405020304" pitchFamily="18" charset="0"/>
              </a:rPr>
              <a:t>Sahu</a:t>
            </a:r>
            <a:r>
              <a:rPr lang="en-IN" sz="2400" dirty="0" smtClean="0">
                <a:latin typeface="Times New Roman" panose="02020603050405020304" pitchFamily="18" charset="0"/>
                <a:cs typeface="Times New Roman" panose="02020603050405020304" pitchFamily="18" charset="0"/>
              </a:rPr>
              <a:t> et al. (2020) leveraged attention-based networks with active learning, while Xu et al. (2020) proposed </a:t>
            </a:r>
            <a:r>
              <a:rPr lang="en-IN" sz="2400" dirty="0" err="1" smtClean="0">
                <a:latin typeface="Times New Roman" panose="02020603050405020304" pitchFamily="18" charset="0"/>
                <a:cs typeface="Times New Roman" panose="02020603050405020304" pitchFamily="18" charset="0"/>
              </a:rPr>
              <a:t>CardioRiskNet</a:t>
            </a:r>
            <a:r>
              <a:rPr lang="en-IN" sz="2400" dirty="0" smtClean="0">
                <a:latin typeface="Times New Roman" panose="02020603050405020304" pitchFamily="18" charset="0"/>
                <a:cs typeface="Times New Roman" panose="02020603050405020304" pitchFamily="18" charset="0"/>
              </a:rPr>
              <a:t> for high accuracy but limited validation. Zhou et al. (2018) highlighted CNN, LSTM, and hybrid models, noting gaps in attention and missing data handling.</a:t>
            </a:r>
            <a:endParaRPr lang="en-IN" sz="2400" dirty="0" smtClean="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28287" y="230188"/>
            <a:ext cx="3810330" cy="5791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IN" dirty="0"/>
          </a:p>
        </p:txBody>
      </p:sp>
      <p:sp>
        <p:nvSpPr>
          <p:cNvPr id="3" name="Content Placeholder 2"/>
          <p:cNvSpPr>
            <a:spLocks noGrp="1"/>
          </p:cNvSpPr>
          <p:nvPr>
            <p:ph idx="1"/>
          </p:nvPr>
        </p:nvSpPr>
        <p:spPr>
          <a:xfrm>
            <a:off x="838200" y="1593669"/>
            <a:ext cx="10515600" cy="4583294"/>
          </a:xfrm>
        </p:spPr>
        <p:txBody>
          <a:bodyPr>
            <a:normAutofit/>
          </a:bodyPr>
          <a:lstStyle/>
          <a:p>
            <a:pPr marL="0" indent="0" algn="just">
              <a:buNone/>
            </a:pPr>
            <a:r>
              <a:rPr lang="en-IN" b="1" dirty="0" smtClean="0"/>
              <a:t>2. </a:t>
            </a:r>
            <a:r>
              <a:rPr lang="en-IN" b="1" dirty="0" smtClean="0">
                <a:latin typeface="Times New Roman" panose="02020603050405020304" pitchFamily="18" charset="0"/>
                <a:cs typeface="Times New Roman" panose="02020603050405020304" pitchFamily="18" charset="0"/>
              </a:rPr>
              <a:t>Challenges in Clinical Data and Model Limitations</a:t>
            </a:r>
            <a:endParaRPr lang="en-IN" b="1"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Clinical datasets for heart disease prediction face missing data, class imbalance, and complex temporal dependencies. KNN imputation preserves intrinsic data relationships, while SMOTE+ENN balances minority and majority classes, improving model sensitivity. Attention mechanisms, particularly residual attention layers, highlight critical features for interpretability. </a:t>
            </a:r>
            <a:endParaRPr lang="en-IN" sz="2400" dirty="0" smtClean="0">
              <a:latin typeface="Times New Roman" panose="02020603050405020304" pitchFamily="18" charset="0"/>
              <a:cs typeface="Times New Roman" panose="02020603050405020304" pitchFamily="18" charset="0"/>
            </a:endParaRPr>
          </a:p>
          <a:p>
            <a:pPr algn="just"/>
            <a:r>
              <a:rPr lang="en-IN" sz="2400" dirty="0" err="1" smtClean="0">
                <a:latin typeface="Times New Roman" panose="02020603050405020304" pitchFamily="18" charset="0"/>
                <a:cs typeface="Times New Roman" panose="02020603050405020304" pitchFamily="18" charset="0"/>
              </a:rPr>
              <a:t>BiLSTM</a:t>
            </a:r>
            <a:r>
              <a:rPr lang="en-IN" sz="2400" dirty="0" smtClean="0">
                <a:latin typeface="Times New Roman" panose="02020603050405020304" pitchFamily="18" charset="0"/>
                <a:cs typeface="Times New Roman" panose="02020603050405020304" pitchFamily="18" charset="0"/>
              </a:rPr>
              <a:t> networks capture forward and backward temporal relationships, </a:t>
            </a:r>
            <a:r>
              <a:rPr lang="en-IN" sz="2400" dirty="0" err="1" smtClean="0">
                <a:latin typeface="Times New Roman" panose="02020603050405020304" pitchFamily="18" charset="0"/>
                <a:cs typeface="Times New Roman" panose="02020603050405020304" pitchFamily="18" charset="0"/>
              </a:rPr>
              <a:t>modeling</a:t>
            </a:r>
            <a:r>
              <a:rPr lang="en-IN" sz="2400" dirty="0" smtClean="0">
                <a:latin typeface="Times New Roman" panose="02020603050405020304" pitchFamily="18" charset="0"/>
                <a:cs typeface="Times New Roman" panose="02020603050405020304" pitchFamily="18" charset="0"/>
              </a:rPr>
              <a:t> complex interactions. Hybrid models combining CNNs, LSTM/GRU, and attention outperform single architectures by extracting spatial, temporal, and weighted feature representations. Stratified k-fold cross-validation ensures unbiased evaluation, with metrics like accuracy, AUC, precision, recall, specificity, and F1-score providing comprehensive performance assessment.</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06663" y="110642"/>
            <a:ext cx="3810330" cy="5791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465" y="499745"/>
            <a:ext cx="10515600" cy="1325563"/>
          </a:xfrm>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IN" dirty="0"/>
          </a:p>
        </p:txBody>
      </p:sp>
      <p:sp>
        <p:nvSpPr>
          <p:cNvPr id="3" name="Content Placeholder 2"/>
          <p:cNvSpPr>
            <a:spLocks noGrp="1"/>
          </p:cNvSpPr>
          <p:nvPr>
            <p:ph idx="1"/>
          </p:nvPr>
        </p:nvSpPr>
        <p:spPr/>
        <p:txBody>
          <a:bodyPr>
            <a:normAutofit lnSpcReduction="10000"/>
          </a:bodyPr>
          <a:lstStyle/>
          <a:p>
            <a:pPr marL="0" indent="0" algn="just">
              <a:buNone/>
            </a:pPr>
            <a:r>
              <a:rPr lang="en-IN" b="1" dirty="0" smtClean="0"/>
              <a:t>3. </a:t>
            </a:r>
            <a:r>
              <a:rPr lang="en-IN" b="1" dirty="0" smtClean="0">
                <a:latin typeface="Times New Roman" panose="02020603050405020304" pitchFamily="18" charset="0"/>
                <a:cs typeface="Times New Roman" panose="02020603050405020304" pitchFamily="18" charset="0"/>
              </a:rPr>
              <a:t>Gaps and Motivation for HRAE-LSTM</a:t>
            </a:r>
            <a:endParaRPr lang="en-IN" b="1"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Existing models face limitations in interpretability, generalizability, reliance on </a:t>
            </a:r>
            <a:r>
              <a:rPr lang="en-IN" sz="2400" dirty="0" err="1" smtClean="0">
                <a:latin typeface="Times New Roman" panose="02020603050405020304" pitchFamily="18" charset="0"/>
                <a:cs typeface="Times New Roman" panose="02020603050405020304" pitchFamily="18" charset="0"/>
              </a:rPr>
              <a:t>labeled</a:t>
            </a:r>
            <a:r>
              <a:rPr lang="en-IN" sz="2400" dirty="0" smtClean="0">
                <a:latin typeface="Times New Roman" panose="02020603050405020304" pitchFamily="18" charset="0"/>
                <a:cs typeface="Times New Roman" panose="02020603050405020304" pitchFamily="18" charset="0"/>
              </a:rPr>
              <a:t> data, and handling missing values or class imbalance. Temporal feature extraction is often underutilized. </a:t>
            </a:r>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HRAE-LSTM addresses these gaps using residual attention layers to prioritize key features, </a:t>
            </a:r>
            <a:r>
              <a:rPr lang="en-IN" sz="2400" dirty="0" err="1" smtClean="0">
                <a:latin typeface="Times New Roman" panose="02020603050405020304" pitchFamily="18" charset="0"/>
                <a:cs typeface="Times New Roman" panose="02020603050405020304" pitchFamily="18" charset="0"/>
              </a:rPr>
              <a:t>BiLSTM</a:t>
            </a:r>
            <a:r>
              <a:rPr lang="en-IN" sz="2400" dirty="0" smtClean="0">
                <a:latin typeface="Times New Roman" panose="02020603050405020304" pitchFamily="18" charset="0"/>
                <a:cs typeface="Times New Roman" panose="02020603050405020304" pitchFamily="18" charset="0"/>
              </a:rPr>
              <a:t> to capture temporal dependencies, KNN for missing data imputation, and SMOTE+ENN to balance datasets. Stratified 5-fold cross-validation ensures robust evaluation. </a:t>
            </a:r>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This hybrid framework achieves 98.9% accuracy and 1.00 AUC on the Cleveland dataset, outperforming SVM, Random Forest, and </a:t>
            </a:r>
            <a:r>
              <a:rPr lang="en-IN" sz="2400" dirty="0" err="1" smtClean="0">
                <a:latin typeface="Times New Roman" panose="02020603050405020304" pitchFamily="18" charset="0"/>
                <a:cs typeface="Times New Roman" panose="02020603050405020304" pitchFamily="18" charset="0"/>
              </a:rPr>
              <a:t>AdaBoost</a:t>
            </a:r>
            <a:r>
              <a:rPr lang="en-IN" sz="2400" dirty="0" smtClean="0">
                <a:latin typeface="Times New Roman" panose="02020603050405020304" pitchFamily="18" charset="0"/>
                <a:cs typeface="Times New Roman" panose="02020603050405020304" pitchFamily="18" charset="0"/>
              </a:rPr>
              <a:t>, while offering clinical relevance, interpretability, and potential for </a:t>
            </a:r>
            <a:r>
              <a:rPr lang="en-IN" sz="2400" dirty="0" err="1" smtClean="0">
                <a:latin typeface="Times New Roman" panose="02020603050405020304" pitchFamily="18" charset="0"/>
                <a:cs typeface="Times New Roman" panose="02020603050405020304" pitchFamily="18" charset="0"/>
              </a:rPr>
              <a:t>IoT</a:t>
            </a:r>
            <a:r>
              <a:rPr lang="en-IN" sz="2400" dirty="0" smtClean="0">
                <a:latin typeface="Times New Roman" panose="02020603050405020304" pitchFamily="18" charset="0"/>
                <a:cs typeface="Times New Roman" panose="02020603050405020304" pitchFamily="18" charset="0"/>
              </a:rPr>
              <a:t>-enabled or edge-based healthcare applications.</a:t>
            </a:r>
            <a:endParaRPr lang="en-IN" sz="2400" dirty="0" smtClean="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41350" y="230188"/>
            <a:ext cx="3810330" cy="5791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5625"/>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RESEARCH GAPS</a:t>
            </a:r>
            <a:endParaRPr lang="en-IN" dirty="0"/>
          </a:p>
        </p:txBody>
      </p:sp>
      <p:sp>
        <p:nvSpPr>
          <p:cNvPr id="3" name="Content Placeholder 2"/>
          <p:cNvSpPr>
            <a:spLocks noGrp="1"/>
          </p:cNvSpPr>
          <p:nvPr>
            <p:ph idx="1"/>
          </p:nvPr>
        </p:nvSpPr>
        <p:spPr>
          <a:xfrm>
            <a:off x="968375" y="2129155"/>
            <a:ext cx="10515600" cy="3046730"/>
          </a:xfrm>
        </p:spPr>
        <p:txBody>
          <a:bodyPr/>
          <a:lstStyle/>
          <a:p>
            <a:pPr algn="just"/>
            <a:r>
              <a:rPr lang="en-US" altLang="en-US" sz="2400" dirty="0">
                <a:latin typeface="Times New Roman" panose="02020603050405020304" pitchFamily="18" charset="0"/>
                <a:cs typeface="Times New Roman" panose="02020603050405020304" pitchFamily="18" charset="0"/>
              </a:rPr>
              <a:t>Evaluation is limited to a single small dataset, increasing overfitting risk and weakening generalization. The study lacks calibration analysis, uncertainty estimation, and subgroup fairness evaluation, which are essential for clinical trust.</a:t>
            </a:r>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Interpretability relies only on attention maps, without complementary explainability methods. No ablation studies or reproducibility details are provided.</a:t>
            </a:r>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The use of BiLSTM for static features is unclear, and robustness, cost effectiveness, and real world deployment feasibility remain untested across diverse healthcare settings globally and clinical environments.</a:t>
            </a:r>
            <a:endParaRPr lang="en-US" alt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54412" y="230188"/>
            <a:ext cx="3810330" cy="5791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pitchFamily="18" charset="0"/>
                <a:cs typeface="Times New Roman" panose="02020603050405020304" pitchFamily="18" charset="0"/>
                <a:sym typeface="+mn-ea"/>
              </a:rPr>
              <a:t>RESEARCH GAPS</a:t>
            </a:r>
            <a:endParaRPr lang="en-US"/>
          </a:p>
        </p:txBody>
      </p:sp>
      <p:sp>
        <p:nvSpPr>
          <p:cNvPr id="3" name="Content Placeholder 2"/>
          <p:cNvSpPr>
            <a:spLocks noGrp="1"/>
          </p:cNvSpPr>
          <p:nvPr>
            <p:ph idx="1"/>
          </p:nvPr>
        </p:nvSpPr>
        <p:spPr>
          <a:xfrm>
            <a:off x="1175385" y="1691005"/>
            <a:ext cx="9841865" cy="4351655"/>
          </a:xfrm>
        </p:spPr>
        <p:txBody>
          <a:bodyPr/>
          <a:p>
            <a:pPr algn="just"/>
            <a:r>
              <a:rPr lang="en-US" altLang="en-US" sz="2400">
                <a:latin typeface="Times New Roman" panose="02020603050405020304" pitchFamily="18" charset="0"/>
                <a:cs typeface="Times New Roman" panose="02020603050405020304" pitchFamily="18" charset="0"/>
              </a:rPr>
              <a:t>Future work should emphasize validation across multiple diverse datasets to ensure generalization. Advanced explainability techniques such as SHAP should complement attention mechanisms for clearer clinical insight.</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 Calibration metrics, uncertainty quantification, and fairness checks across demographics must be included.</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 Efficiency, robustness, and cost effectiveness analyses are needed for deployment. </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Testing on real world clinical data will strengthen reliability and support practical adoption of the proposed HRAE LSTM model in future clinical decision support systems worldwide and hospital settings.</a:t>
            </a:r>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68" y="128680"/>
            <a:ext cx="3815596" cy="5791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a:latin typeface="Times New Roman" panose="02020603050405020304" pitchFamily="18" charset="0"/>
                <a:cs typeface="Times New Roman" panose="02020603050405020304" pitchFamily="18" charset="0"/>
                <a:sym typeface="+mn-ea"/>
              </a:rPr>
              <a:t>PROBLEM STATEMENT</a:t>
            </a:r>
            <a:endParaRPr lang="en-IN" sz="3600" dirty="0"/>
          </a:p>
        </p:txBody>
      </p:sp>
      <p:sp>
        <p:nvSpPr>
          <p:cNvPr id="3" name="Content Placeholder 2"/>
          <p:cNvSpPr>
            <a:spLocks noGrp="1"/>
          </p:cNvSpPr>
          <p:nvPr>
            <p:ph idx="1"/>
          </p:nvPr>
        </p:nvSpPr>
        <p:spPr>
          <a:xfrm>
            <a:off x="1241425" y="1957705"/>
            <a:ext cx="9709785" cy="4351655"/>
          </a:xfrm>
        </p:spPr>
        <p:txBody>
          <a:bodyPr>
            <a:normAutofit/>
          </a:bodyPr>
          <a:lstStyle/>
          <a:p>
            <a:r>
              <a:rPr lang="en-US" sz="2400" b="1" dirty="0" smtClean="0">
                <a:latin typeface="Times New Roman" panose="02020603050405020304" pitchFamily="18" charset="0"/>
                <a:cs typeface="Times New Roman" panose="02020603050405020304" pitchFamily="18" charset="0"/>
              </a:rPr>
              <a:t>Problem Background</a:t>
            </a:r>
            <a:endParaRPr lang="en-US" sz="24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Ischemic heart disease (IHD) is a major cause of global mortality, occurring due to reduced blood flow to the heart from arterial blockages. Early and accurate diagnosis is essential to prevent severe complications and improve patient outcomes.</a:t>
            </a: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 However, conventional diagnostic techniques such as electrocardiograms (ECG), angiography, and stress tests are expensive, time-consuming, and require specialized medical infrastructure.</a:t>
            </a: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 These limitations make them impractical for large-scale population screening, especially in resource-constrained settings, highlighting the need for efficient, cost-effective, and scalable diagnostic approaches.</a:t>
            </a:r>
            <a:endParaRPr lang="en-US" altLang="en-US" sz="24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28287" y="75540"/>
            <a:ext cx="3810330" cy="5791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pitchFamily="18" charset="0"/>
                <a:cs typeface="Times New Roman" panose="02020603050405020304" pitchFamily="18" charset="0"/>
                <a:sym typeface="+mn-ea"/>
              </a:rPr>
              <a:t>PROBLEM STATEMENT</a:t>
            </a:r>
            <a:endParaRPr lang="en-US"/>
          </a:p>
        </p:txBody>
      </p:sp>
      <p:sp>
        <p:nvSpPr>
          <p:cNvPr id="3" name="Content Placeholder 2"/>
          <p:cNvSpPr>
            <a:spLocks noGrp="1"/>
          </p:cNvSpPr>
          <p:nvPr>
            <p:ph idx="1"/>
          </p:nvPr>
        </p:nvSpPr>
        <p:spPr>
          <a:xfrm>
            <a:off x="1410335" y="1691005"/>
            <a:ext cx="9679940" cy="4351655"/>
          </a:xfrm>
        </p:spPr>
        <p:txBody>
          <a:bodyPr/>
          <a:p>
            <a:pPr algn="just"/>
            <a:r>
              <a:rPr lang="en-US" sz="2400" b="1" dirty="0" smtClean="0">
                <a:latin typeface="Times New Roman" panose="02020603050405020304" pitchFamily="18" charset="0"/>
                <a:cs typeface="Times New Roman" panose="02020603050405020304" pitchFamily="18" charset="0"/>
                <a:sym typeface="+mn-ea"/>
              </a:rPr>
              <a:t>Problem Statement</a:t>
            </a:r>
            <a:endParaRPr lang="en-US" sz="2400" b="1" dirty="0" smtClean="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Existing machine learning models for ischemic heart disease prediction face challenges such as handling missing clinical data, class imbalance, and poor interpretability of results. </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These limitations reduce their reliability and acceptance in clinical practice. As a result, there is a strong need for an advanced deep learning framework that is accurate, robust, and explainable.</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 Such a model should effectively manage incomplete data, ensure balanced prediction performance, and provide transparent decision insights to support trustworthy and clinically meaningful ischemic heart disease classification.</a:t>
            </a:r>
            <a:endParaRPr lang="en-US" altLang="en-US" sz="2400">
              <a:latin typeface="Times New Roman" panose="02020603050405020304" pitchFamily="18" charset="0"/>
              <a:cs typeface="Times New Roman" panose="02020603050405020304" pitchFamily="18" charset="0"/>
            </a:endParaRPr>
          </a:p>
          <a:p>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26097" y="185830"/>
            <a:ext cx="3815596" cy="5791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OBJECTIVES</a:t>
            </a:r>
            <a:endParaRPr lang="en-IN" dirty="0"/>
          </a:p>
        </p:txBody>
      </p:sp>
      <p:sp>
        <p:nvSpPr>
          <p:cNvPr id="3" name="Content Placeholder 2"/>
          <p:cNvSpPr>
            <a:spLocks noGrp="1"/>
          </p:cNvSpPr>
          <p:nvPr>
            <p:ph idx="1"/>
          </p:nvPr>
        </p:nvSpPr>
        <p:spPr>
          <a:xfrm>
            <a:off x="838200" y="1957070"/>
            <a:ext cx="10515600" cy="4351338"/>
          </a:xfrm>
        </p:spPr>
        <p:txBody>
          <a:bodyPr>
            <a:normAutofit lnSpcReduction="10000"/>
          </a:bodyPr>
          <a:lstStyle/>
          <a:p>
            <a:r>
              <a:rPr lang="en-US" b="1" dirty="0" smtClean="0">
                <a:latin typeface="Times New Roman" panose="02020603050405020304" pitchFamily="18" charset="0"/>
                <a:cs typeface="Times New Roman" panose="02020603050405020304" pitchFamily="18" charset="0"/>
                <a:sym typeface="+mn-ea"/>
              </a:rPr>
              <a:t>Main Objective</a:t>
            </a:r>
            <a:endParaRPr lang="en-US" b="1" dirty="0" smtClean="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The primary objective of this research is to develop an efficient, accurate, and interpretable deep learning framework, termed HRAE–LSTM, for ischemic heart disease classification. </a:t>
            </a:r>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The model integrates Residual Attention mechanisms with Bidirectional Long Short-Term Memory (BiLSTM) layers to capture complex feature interactions and emphasize clinically significant patterns.</a:t>
            </a:r>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By combining attention and residual learning, the framework aims to improve predictive performance while maintaining transparency in decision-making, supporting early and reliable diagnosis of ischemic heart disease in clinical environments.</a:t>
            </a:r>
            <a:endParaRPr lang="en-US" altLang="en-US" sz="2400" dirty="0">
              <a:latin typeface="Times New Roman" panose="02020603050405020304" pitchFamily="18" charset="0"/>
              <a:cs typeface="Times New Roman" panose="02020603050405020304" pitchFamily="18" charset="0"/>
            </a:endParaRPr>
          </a:p>
          <a:p>
            <a:pPr marL="0" indent="0">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93600" y="230188"/>
            <a:ext cx="3810330" cy="5791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latin typeface="Times New Roman" panose="02020603050405020304" pitchFamily="18" charset="0"/>
                <a:cs typeface="Times New Roman" panose="02020603050405020304" pitchFamily="18" charset="0"/>
                <a:sym typeface="+mn-ea"/>
              </a:rPr>
              <a:t>OBJECTIVES</a:t>
            </a:r>
            <a:endParaRPr lang="en-US"/>
          </a:p>
        </p:txBody>
      </p:sp>
      <p:sp>
        <p:nvSpPr>
          <p:cNvPr id="3" name="Content Placeholder 2"/>
          <p:cNvSpPr>
            <a:spLocks noGrp="1"/>
          </p:cNvSpPr>
          <p:nvPr>
            <p:ph idx="1"/>
          </p:nvPr>
        </p:nvSpPr>
        <p:spPr/>
        <p:txBody>
          <a:bodyPr>
            <a:normAutofit/>
          </a:bodyPr>
          <a:p>
            <a:pPr algn="just"/>
            <a:r>
              <a:rPr lang="en-US" b="1" dirty="0" smtClean="0">
                <a:latin typeface="Times New Roman" panose="02020603050405020304" pitchFamily="18" charset="0"/>
                <a:cs typeface="Times New Roman" panose="02020603050405020304" pitchFamily="18" charset="0"/>
                <a:sym typeface="+mn-ea"/>
              </a:rPr>
              <a:t>Specific Objectives</a:t>
            </a:r>
            <a:endParaRPr lang="en-US" b="1" dirty="0" smtClean="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The study seeks to address common challenges in medical datasets by applying K-Nearest Neighbors (KNN) imputation to manage missing values and using the SMOTE–ENN technique to handle class imbalance.</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 Feature standardization is employed to ensure stable and optimized learning during training. Another key objective is to perform a comprehensive performance comparison between the proposed HRAE–LSTM model and existing machine learning and deep learning methods. </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This evaluation aims to validate the robustness, accuracy, and reliability of the proposed framework, ensuring its practical applicability and effectiveness for real-world clinical diagnosis and decision support systems.</a:t>
            </a:r>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68" y="-225"/>
            <a:ext cx="3815596" cy="5791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955" y="683532"/>
            <a:ext cx="10515600" cy="1325563"/>
          </a:xfrm>
        </p:spPr>
        <p:txBody>
          <a:bodyPr>
            <a:normAutofit/>
          </a:bodyPr>
          <a:lstStyle/>
          <a:p>
            <a:pPr algn="ctr"/>
            <a:r>
              <a:rPr lang="en-US" b="1" dirty="0">
                <a:latin typeface="Times New Roman" panose="02020603050405020304" pitchFamily="18" charset="0"/>
                <a:cs typeface="Times New Roman" panose="02020603050405020304" pitchFamily="18" charset="0"/>
              </a:rPr>
              <a:t>BLOCK DIAGRAM OR FLOW DIAGRAM</a:t>
            </a:r>
            <a:endParaRPr lang="en-IN" dirty="0"/>
          </a:p>
        </p:txBody>
      </p:sp>
      <p:pic>
        <p:nvPicPr>
          <p:cNvPr id="5" name="Picture 4"/>
          <p:cNvPicPr>
            <a:picLocks noChangeAspect="1"/>
          </p:cNvPicPr>
          <p:nvPr/>
        </p:nvPicPr>
        <p:blipFill>
          <a:blip r:embed="rId1"/>
          <a:stretch>
            <a:fillRect/>
          </a:stretch>
        </p:blipFill>
        <p:spPr>
          <a:xfrm>
            <a:off x="0" y="75540"/>
            <a:ext cx="3810330" cy="579170"/>
          </a:xfrm>
          <a:prstGeom prst="rect">
            <a:avLst/>
          </a:prstGeom>
        </p:spPr>
      </p:pic>
      <p:pic>
        <p:nvPicPr>
          <p:cNvPr id="10" name="Content Placeholder 9"/>
          <p:cNvPicPr>
            <a:picLocks noChangeAspect="1"/>
          </p:cNvPicPr>
          <p:nvPr>
            <p:ph idx="1"/>
          </p:nvPr>
        </p:nvPicPr>
        <p:blipFill>
          <a:blip r:embed="rId2"/>
          <a:stretch>
            <a:fillRect/>
          </a:stretch>
        </p:blipFill>
        <p:spPr>
          <a:xfrm>
            <a:off x="3188970" y="1954530"/>
            <a:ext cx="6128385" cy="4654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1175"/>
            <a:ext cx="10515600" cy="1179830"/>
          </a:xfrm>
        </p:spPr>
        <p:txBody>
          <a:bodyPr/>
          <a:lstStyle/>
          <a:p>
            <a:pPr algn="ctr"/>
            <a:r>
              <a:rPr lang="en-US" b="1" dirty="0" smtClean="0">
                <a:latin typeface="Times New Roman" panose="02020603050405020304" pitchFamily="18" charset="0"/>
                <a:cs typeface="Times New Roman" panose="02020603050405020304" pitchFamily="18" charset="0"/>
              </a:rPr>
              <a:t>METHODOLOGY</a:t>
            </a:r>
            <a:endParaRPr lang="en-IN" dirty="0"/>
          </a:p>
        </p:txBody>
      </p:sp>
      <p:pic>
        <p:nvPicPr>
          <p:cNvPr id="6" name="Content Placeholder 5"/>
          <p:cNvPicPr>
            <a:picLocks noChangeAspect="1"/>
          </p:cNvPicPr>
          <p:nvPr>
            <p:ph idx="1"/>
          </p:nvPr>
        </p:nvPicPr>
        <p:blipFill>
          <a:blip r:embed="rId1"/>
          <a:stretch>
            <a:fillRect/>
          </a:stretch>
        </p:blipFill>
        <p:spPr>
          <a:xfrm>
            <a:off x="629285" y="2442210"/>
            <a:ext cx="2965450" cy="3007360"/>
          </a:xfrm>
          <a:prstGeom prst="rect">
            <a:avLst/>
          </a:prstGeom>
        </p:spPr>
      </p:pic>
      <p:pic>
        <p:nvPicPr>
          <p:cNvPr id="5" name="Picture 4"/>
          <p:cNvPicPr>
            <a:picLocks noChangeAspect="1"/>
          </p:cNvPicPr>
          <p:nvPr/>
        </p:nvPicPr>
        <p:blipFill>
          <a:blip r:embed="rId2"/>
          <a:stretch>
            <a:fillRect/>
          </a:stretch>
        </p:blipFill>
        <p:spPr>
          <a:xfrm>
            <a:off x="206664" y="230188"/>
            <a:ext cx="3810330" cy="579170"/>
          </a:xfrm>
          <a:prstGeom prst="rect">
            <a:avLst/>
          </a:prstGeom>
        </p:spPr>
      </p:pic>
      <p:sp>
        <p:nvSpPr>
          <p:cNvPr id="7" name="Text Box 6"/>
          <p:cNvSpPr txBox="1"/>
          <p:nvPr/>
        </p:nvSpPr>
        <p:spPr>
          <a:xfrm>
            <a:off x="4145915" y="1934210"/>
            <a:ext cx="7404735" cy="4251325"/>
          </a:xfrm>
          <a:prstGeom prst="rect">
            <a:avLst/>
          </a:prstGeom>
          <a:noFill/>
        </p:spPr>
        <p:txBody>
          <a:bodyPr wrap="square" rtlCol="0">
            <a:noAutofit/>
          </a:bodyPr>
          <a:p>
            <a:endParaRPr lang="en-US"/>
          </a:p>
        </p:txBody>
      </p:sp>
      <p:sp>
        <p:nvSpPr>
          <p:cNvPr id="8" name="Text Box 7"/>
          <p:cNvSpPr txBox="1"/>
          <p:nvPr/>
        </p:nvSpPr>
        <p:spPr>
          <a:xfrm>
            <a:off x="206375" y="5542915"/>
            <a:ext cx="4064000" cy="368300"/>
          </a:xfrm>
          <a:prstGeom prst="rect">
            <a:avLst/>
          </a:prstGeom>
          <a:noFill/>
        </p:spPr>
        <p:txBody>
          <a:bodyPr wrap="square" rtlCol="0">
            <a:spAutoFit/>
          </a:bodyPr>
          <a:p>
            <a:r>
              <a:rPr lang="en-US" altLang="en-US"/>
              <a:t> Block Diagram for Complete Workflow</a:t>
            </a:r>
            <a:endParaRPr lang="en-US" altLang="en-US"/>
          </a:p>
        </p:txBody>
      </p:sp>
      <p:sp>
        <p:nvSpPr>
          <p:cNvPr id="10" name="Text Box 9"/>
          <p:cNvSpPr txBox="1"/>
          <p:nvPr/>
        </p:nvSpPr>
        <p:spPr>
          <a:xfrm>
            <a:off x="4272915" y="2061210"/>
            <a:ext cx="7404735" cy="4251325"/>
          </a:xfrm>
          <a:prstGeom prst="rect">
            <a:avLst/>
          </a:prstGeom>
          <a:noFill/>
        </p:spPr>
        <p:txBody>
          <a:bodyPr wrap="square" rtlCol="0">
            <a:noAutofit/>
          </a:bodyPr>
          <a:p>
            <a:endParaRPr lang="en-US"/>
          </a:p>
        </p:txBody>
      </p:sp>
      <p:sp>
        <p:nvSpPr>
          <p:cNvPr id="11" name="Text Box 10"/>
          <p:cNvSpPr txBox="1"/>
          <p:nvPr/>
        </p:nvSpPr>
        <p:spPr>
          <a:xfrm>
            <a:off x="4399915" y="2188210"/>
            <a:ext cx="7404735" cy="4251325"/>
          </a:xfrm>
          <a:prstGeom prst="rect">
            <a:avLst/>
          </a:prstGeom>
          <a:noFill/>
        </p:spPr>
        <p:txBody>
          <a:bodyPr wrap="square" rtlCol="0">
            <a:noAutofit/>
          </a:bodyPr>
          <a:p>
            <a:endParaRPr lang="en-US"/>
          </a:p>
        </p:txBody>
      </p:sp>
      <p:sp>
        <p:nvSpPr>
          <p:cNvPr id="12" name="Text Box 11"/>
          <p:cNvSpPr txBox="1"/>
          <p:nvPr/>
        </p:nvSpPr>
        <p:spPr>
          <a:xfrm>
            <a:off x="4526915" y="2315210"/>
            <a:ext cx="7404735" cy="4251325"/>
          </a:xfrm>
          <a:prstGeom prst="rect">
            <a:avLst/>
          </a:prstGeom>
          <a:noFill/>
        </p:spPr>
        <p:txBody>
          <a:bodyPr wrap="square" rtlCol="0">
            <a:noAutofit/>
          </a:bodyPr>
          <a:p>
            <a:endParaRPr lang="en-US"/>
          </a:p>
        </p:txBody>
      </p:sp>
      <p:sp>
        <p:nvSpPr>
          <p:cNvPr id="13" name="Text Box 12"/>
          <p:cNvSpPr txBox="1"/>
          <p:nvPr/>
        </p:nvSpPr>
        <p:spPr>
          <a:xfrm>
            <a:off x="4653915" y="2442210"/>
            <a:ext cx="7404735" cy="4251325"/>
          </a:xfrm>
          <a:prstGeom prst="rect">
            <a:avLst/>
          </a:prstGeom>
          <a:noFill/>
        </p:spPr>
        <p:txBody>
          <a:bodyPr wrap="square" rtlCol="0">
            <a:noAutofit/>
          </a:bodyPr>
          <a:p>
            <a:endParaRPr lang="en-US"/>
          </a:p>
        </p:txBody>
      </p:sp>
      <p:sp>
        <p:nvSpPr>
          <p:cNvPr id="14" name="Text Box 13"/>
          <p:cNvSpPr txBox="1"/>
          <p:nvPr/>
        </p:nvSpPr>
        <p:spPr>
          <a:xfrm>
            <a:off x="4780915" y="2569210"/>
            <a:ext cx="7404735" cy="4251325"/>
          </a:xfrm>
          <a:prstGeom prst="rect">
            <a:avLst/>
          </a:prstGeom>
          <a:noFill/>
        </p:spPr>
        <p:txBody>
          <a:bodyPr wrap="square" rtlCol="0">
            <a:noAutofit/>
          </a:bodyPr>
          <a:p>
            <a:endParaRPr lang="en-US"/>
          </a:p>
        </p:txBody>
      </p:sp>
      <p:sp>
        <p:nvSpPr>
          <p:cNvPr id="15" name="Text Box 14"/>
          <p:cNvSpPr txBox="1"/>
          <p:nvPr/>
        </p:nvSpPr>
        <p:spPr>
          <a:xfrm>
            <a:off x="4272915" y="1659890"/>
            <a:ext cx="7404735" cy="5033010"/>
          </a:xfrm>
          <a:prstGeom prst="rect">
            <a:avLst/>
          </a:prstGeom>
          <a:noFill/>
        </p:spPr>
        <p:txBody>
          <a:bodyPr wrap="square" rtlCol="0">
            <a:noAutofit/>
          </a:bodyPr>
          <a:p>
            <a:r>
              <a:rPr lang="en-US" altLang="en-US" sz="2600" b="1">
                <a:latin typeface="Times New Roman" panose="02020603050405020304" pitchFamily="18" charset="0"/>
                <a:cs typeface="Times New Roman" panose="02020603050405020304" pitchFamily="18" charset="0"/>
              </a:rPr>
              <a:t>A. Dataset Description</a:t>
            </a:r>
            <a:endParaRPr lang="en-US" altLang="en-US" sz="2600" b="1">
              <a:latin typeface="Times New Roman" panose="02020603050405020304" pitchFamily="18" charset="0"/>
              <a:cs typeface="Times New Roman" panose="02020603050405020304" pitchFamily="18" charset="0"/>
            </a:endParaRPr>
          </a:p>
          <a:p>
            <a:endParaRPr lang="en-US" altLang="en-US" sz="2000" b="1">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The study employs the widely used Cleveland heart disease dataset, containing medical records of 303 individuals described by 14 clinical and demographic attributes. Key continuous features include age, sex, resting blood pressure, cholesterol level, and maximum heart rate achieved during exercise. Categorical attributes include chest pain type, fasting blood glucose, ECG results, exercise-induced angina, and ST segment slope. The dataset also includes thal and fluoroscopy data. The target variable “num” indicates coronary artery disease severity on a scale of 0 to 4.</a:t>
            </a:r>
            <a:endParaRPr lang="en-US" altLang="en-US" sz="2400">
              <a:latin typeface="Times New Roman" panose="02020603050405020304" pitchFamily="18" charset="0"/>
              <a:cs typeface="Times New Roman" panose="02020603050405020304" pitchFamily="18" charset="0"/>
            </a:endParaRPr>
          </a:p>
          <a:p>
            <a:pPr algn="just"/>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7840"/>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METHODOLOGY</a:t>
            </a:r>
            <a:endParaRPr lang="en-IN" dirty="0"/>
          </a:p>
        </p:txBody>
      </p:sp>
      <p:pic>
        <p:nvPicPr>
          <p:cNvPr id="7" name="Picture 6"/>
          <p:cNvPicPr>
            <a:picLocks noChangeAspect="1"/>
          </p:cNvPicPr>
          <p:nvPr/>
        </p:nvPicPr>
        <p:blipFill>
          <a:blip r:embed="rId1"/>
          <a:stretch>
            <a:fillRect/>
          </a:stretch>
        </p:blipFill>
        <p:spPr>
          <a:xfrm>
            <a:off x="102160" y="230189"/>
            <a:ext cx="3810330" cy="579170"/>
          </a:xfrm>
          <a:prstGeom prst="rect">
            <a:avLst/>
          </a:prstGeom>
        </p:spPr>
      </p:pic>
      <p:sp>
        <p:nvSpPr>
          <p:cNvPr id="6" name="Text Box 5"/>
          <p:cNvSpPr txBox="1"/>
          <p:nvPr/>
        </p:nvSpPr>
        <p:spPr>
          <a:xfrm>
            <a:off x="577850" y="1690370"/>
            <a:ext cx="11035665" cy="4863465"/>
          </a:xfrm>
          <a:prstGeom prst="rect">
            <a:avLst/>
          </a:prstGeom>
          <a:noFill/>
        </p:spPr>
        <p:txBody>
          <a:bodyPr wrap="square" rtlCol="0">
            <a:noAutofit/>
          </a:bodyPr>
          <a:p>
            <a:r>
              <a:rPr lang="en-US" altLang="en-US" sz="2600" b="1">
                <a:latin typeface="Times New Roman" panose="02020603050405020304" pitchFamily="18" charset="0"/>
                <a:cs typeface="Times New Roman" panose="02020603050405020304" pitchFamily="18" charset="0"/>
              </a:rPr>
              <a:t>B. Data Preprocessing</a:t>
            </a:r>
            <a:endParaRPr lang="en-US" altLang="en-US" sz="2600" b="1">
              <a:latin typeface="Times New Roman" panose="02020603050405020304" pitchFamily="18" charset="0"/>
              <a:cs typeface="Times New Roman" panose="02020603050405020304" pitchFamily="18" charset="0"/>
            </a:endParaRPr>
          </a:p>
          <a:p>
            <a:endParaRPr lang="en-US" altLang="en-US" sz="2600" b="1">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Before applying deep learning techniques, the dataset required extensive preprocessing to ensure high quality and reliability. This process addressed common clinical data issues such as missing values, sparse classes, and inconsistent feature dimensions.</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 1.Preliminary data analysis:</a:t>
            </a:r>
            <a:endParaRPr lang="en-US" alt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 It was first conducted to identify and remove anomalies, outliers, and abnormal values. Boxplots and heatmaps were used to compare features and understand data distribution. </a:t>
            </a:r>
            <a:r>
              <a:rPr lang="en-US" altLang="en-US" sz="2400">
                <a:latin typeface="Times New Roman" panose="02020603050405020304" pitchFamily="18" charset="0"/>
                <a:cs typeface="Times New Roman" panose="02020603050405020304" pitchFamily="18" charset="0"/>
                <a:sym typeface="+mn-ea"/>
              </a:rPr>
              <a:t> </a:t>
            </a:r>
            <a:endParaRPr lang="en-US" altLang="en-US" sz="2400">
              <a:latin typeface="Times New Roman" panose="02020603050405020304" pitchFamily="18" charset="0"/>
              <a:cs typeface="Times New Roman" panose="02020603050405020304" pitchFamily="18" charset="0"/>
              <a:sym typeface="+mn-ea"/>
            </a:endParaRPr>
          </a:p>
          <a:p>
            <a:pPr marL="342900" indent="-342900"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sym typeface="+mn-ea"/>
              </a:rPr>
              <a:t>The dataset was also examined for class imbalance in cardiac disease detection, where non-cardiac cases significantly outnumbered cardiac cases. If left unhandled, this imbalance could negatively affect model accuracy and predictive performance.</a:t>
            </a:r>
            <a:endParaRPr lang="en-US" altLang="en-US" sz="240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latin typeface="Times New Roman" panose="02020603050405020304" pitchFamily="18" charset="0"/>
                <a:cs typeface="Times New Roman" panose="02020603050405020304" pitchFamily="18" charset="0"/>
                <a:sym typeface="+mn-ea"/>
              </a:rPr>
              <a:t>METHODOLOGY</a:t>
            </a:r>
            <a:endParaRPr lang="en-US"/>
          </a:p>
        </p:txBody>
      </p:sp>
      <p:pic>
        <p:nvPicPr>
          <p:cNvPr id="4" name="Content Placeholder 3"/>
          <p:cNvPicPr>
            <a:picLocks noChangeAspect="1"/>
          </p:cNvPicPr>
          <p:nvPr>
            <p:ph idx="1"/>
          </p:nvPr>
        </p:nvPicPr>
        <p:blipFill>
          <a:blip r:embed="rId1"/>
          <a:stretch>
            <a:fillRect/>
          </a:stretch>
        </p:blipFill>
        <p:spPr>
          <a:xfrm>
            <a:off x="838200" y="1565910"/>
            <a:ext cx="6226175" cy="4827905"/>
          </a:xfrm>
          <a:prstGeom prst="rect">
            <a:avLst/>
          </a:prstGeom>
        </p:spPr>
      </p:pic>
      <p:sp>
        <p:nvSpPr>
          <p:cNvPr id="5" name="Text Box 4"/>
          <p:cNvSpPr txBox="1"/>
          <p:nvPr/>
        </p:nvSpPr>
        <p:spPr>
          <a:xfrm>
            <a:off x="7294245" y="1811655"/>
            <a:ext cx="4314190" cy="4582160"/>
          </a:xfrm>
          <a:prstGeom prst="rect">
            <a:avLst/>
          </a:prstGeom>
          <a:noFill/>
        </p:spPr>
        <p:txBody>
          <a:bodyPr wrap="square" rtlCol="0">
            <a:noAutofit/>
          </a:bodyPr>
          <a:p>
            <a:pPr algn="just"/>
            <a:r>
              <a:rPr lang="en-US" altLang="en-US" sz="2400">
                <a:latin typeface="Times New Roman" panose="02020603050405020304" pitchFamily="18" charset="0"/>
                <a:cs typeface="Times New Roman" panose="02020603050405020304" pitchFamily="18" charset="0"/>
                <a:sym typeface="+mn-ea"/>
              </a:rPr>
              <a:t> </a:t>
            </a:r>
            <a:r>
              <a:rPr lang="en-US" altLang="en-US" sz="2400">
                <a:latin typeface="Times New Roman" panose="02020603050405020304" pitchFamily="18" charset="0"/>
                <a:cs typeface="Times New Roman" panose="02020603050405020304" pitchFamily="18" charset="0"/>
              </a:rPr>
              <a:t>Preliminary data analysis ensured data reliability by identifying missing values, outliers, and inconsistencies. Visualization techniques helped understand feature distributions and relationships, supporting better preprocessing decisions and improving overall model performance in cardiac disease prediction tasks.</a:t>
            </a:r>
            <a:endParaRPr lang="en-US" altLang="en-US" sz="2400">
              <a:latin typeface="Times New Roman" panose="02020603050405020304" pitchFamily="18" charset="0"/>
              <a:cs typeface="Times New Roman" panose="02020603050405020304" pitchFamily="18" charset="0"/>
            </a:endParaRPr>
          </a:p>
          <a:p>
            <a:pPr algn="just"/>
            <a:endParaRPr lang="en-US" altLang="en-US" sz="2400">
              <a:latin typeface="Times New Roman" panose="02020603050405020304" pitchFamily="18" charset="0"/>
              <a:cs typeface="Times New Roman" panose="02020603050405020304" pitchFamily="18" charset="0"/>
            </a:endParaRPr>
          </a:p>
        </p:txBody>
      </p:sp>
      <p:sp>
        <p:nvSpPr>
          <p:cNvPr id="7" name="Text Box 6"/>
          <p:cNvSpPr txBox="1"/>
          <p:nvPr/>
        </p:nvSpPr>
        <p:spPr>
          <a:xfrm>
            <a:off x="1248410" y="6259830"/>
            <a:ext cx="7776845" cy="362585"/>
          </a:xfrm>
          <a:prstGeom prst="rect">
            <a:avLst/>
          </a:prstGeom>
          <a:noFill/>
        </p:spPr>
        <p:txBody>
          <a:bodyPr wrap="square" rtlCol="0">
            <a:noAutofit/>
          </a:bodyPr>
          <a:p>
            <a:r>
              <a:rPr lang="en-US" altLang="en-US"/>
              <a:t>Detailed Attribute Description of the Heart Disease Dataset</a:t>
            </a:r>
            <a:endParaRPr lang="en-US" altLang="en-US"/>
          </a:p>
        </p:txBody>
      </p:sp>
      <p:pic>
        <p:nvPicPr>
          <p:cNvPr id="8" name="Picture 7"/>
          <p:cNvPicPr>
            <a:picLocks noChangeAspect="1"/>
          </p:cNvPicPr>
          <p:nvPr/>
        </p:nvPicPr>
        <p:blipFill>
          <a:blip r:embed="rId2"/>
          <a:stretch>
            <a:fillRect/>
          </a:stretch>
        </p:blipFill>
        <p:spPr>
          <a:xfrm>
            <a:off x="-268" y="-225"/>
            <a:ext cx="3815596" cy="5791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latin typeface="Times New Roman" panose="02020603050405020304" pitchFamily="18" charset="0"/>
                <a:cs typeface="Times New Roman" panose="02020603050405020304" pitchFamily="18" charset="0"/>
                <a:sym typeface="+mn-ea"/>
              </a:rPr>
              <a:t>METHODOLOGY</a:t>
            </a:r>
            <a:endParaRPr lang="en-US"/>
          </a:p>
        </p:txBody>
      </p:sp>
      <p:sp>
        <p:nvSpPr>
          <p:cNvPr id="3" name="Content Placeholder 2"/>
          <p:cNvSpPr>
            <a:spLocks noGrp="1"/>
          </p:cNvSpPr>
          <p:nvPr>
            <p:ph idx="1"/>
          </p:nvPr>
        </p:nvSpPr>
        <p:spPr>
          <a:xfrm>
            <a:off x="662305" y="2119630"/>
            <a:ext cx="6306185" cy="3386455"/>
          </a:xfrm>
        </p:spPr>
        <p:txBody>
          <a:bodyPr>
            <a:normAutofit lnSpcReduction="20000"/>
          </a:bodyPr>
          <a:p>
            <a:pPr marL="0" indent="0">
              <a:buNone/>
            </a:pPr>
            <a:r>
              <a:rPr lang="en-US" altLang="en-US" sz="2400">
                <a:latin typeface="Times New Roman" panose="02020603050405020304" pitchFamily="18" charset="0"/>
                <a:cs typeface="Times New Roman" panose="02020603050405020304" pitchFamily="18" charset="0"/>
              </a:rPr>
              <a:t>2. Filling Missing Values Using the KNN Method:</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Missing values in key variables such as thal and ca were handled using the K-Nearest Neighbors imputation method with k=5.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This technique replaces missing entries by averaging values from the five most similar records, helping preserve underlying data relationships and improving prediction accuracy compared to simple mean or median imputation approaches.</a:t>
            </a:r>
            <a:endParaRPr lang="en-US" altLang="en-US" sz="2400">
              <a:latin typeface="Times New Roman" panose="02020603050405020304" pitchFamily="18" charset="0"/>
              <a:cs typeface="Times New Roman" panose="02020603050405020304" pitchFamily="18" charset="0"/>
            </a:endParaRPr>
          </a:p>
        </p:txBody>
      </p:sp>
      <p:sp>
        <p:nvSpPr>
          <p:cNvPr id="4" name="Text Box 3"/>
          <p:cNvSpPr txBox="1"/>
          <p:nvPr/>
        </p:nvSpPr>
        <p:spPr>
          <a:xfrm>
            <a:off x="6316980" y="1494155"/>
            <a:ext cx="6278880" cy="4486275"/>
          </a:xfrm>
          <a:prstGeom prst="rect">
            <a:avLst/>
          </a:prstGeom>
          <a:noFill/>
        </p:spPr>
        <p:txBody>
          <a:bodyPr wrap="square" rtlCol="0">
            <a:noAutofit/>
          </a:bodyPr>
          <a:p>
            <a:endParaRPr lang="en-US"/>
          </a:p>
        </p:txBody>
      </p:sp>
      <p:pic>
        <p:nvPicPr>
          <p:cNvPr id="5" name="Picture 4"/>
          <p:cNvPicPr>
            <a:picLocks noChangeAspect="1"/>
          </p:cNvPicPr>
          <p:nvPr/>
        </p:nvPicPr>
        <p:blipFill>
          <a:blip r:embed="rId1"/>
          <a:stretch>
            <a:fillRect/>
          </a:stretch>
        </p:blipFill>
        <p:spPr>
          <a:xfrm>
            <a:off x="7145020" y="1882775"/>
            <a:ext cx="4623435" cy="3860800"/>
          </a:xfrm>
          <a:prstGeom prst="rect">
            <a:avLst/>
          </a:prstGeom>
        </p:spPr>
      </p:pic>
      <p:sp>
        <p:nvSpPr>
          <p:cNvPr id="6" name="Text Box 5"/>
          <p:cNvSpPr txBox="1"/>
          <p:nvPr/>
        </p:nvSpPr>
        <p:spPr>
          <a:xfrm>
            <a:off x="7145020" y="5972175"/>
            <a:ext cx="5673725" cy="451485"/>
          </a:xfrm>
          <a:prstGeom prst="rect">
            <a:avLst/>
          </a:prstGeom>
          <a:noFill/>
        </p:spPr>
        <p:txBody>
          <a:bodyPr wrap="square" rtlCol="0">
            <a:noAutofit/>
          </a:bodyPr>
          <a:p>
            <a:r>
              <a:rPr lang="en-US" altLang="en-US"/>
              <a:t> missing data both before and after imputation.</a:t>
            </a:r>
            <a:endParaRPr lang="en-US" altLang="en-US"/>
          </a:p>
        </p:txBody>
      </p:sp>
      <p:pic>
        <p:nvPicPr>
          <p:cNvPr id="7" name="Picture 6"/>
          <p:cNvPicPr>
            <a:picLocks noChangeAspect="1"/>
          </p:cNvPicPr>
          <p:nvPr/>
        </p:nvPicPr>
        <p:blipFill>
          <a:blip r:embed="rId2"/>
          <a:stretch>
            <a:fillRect/>
          </a:stretch>
        </p:blipFill>
        <p:spPr>
          <a:xfrm>
            <a:off x="258812" y="166780"/>
            <a:ext cx="3815596" cy="579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latin typeface="Times New Roman" panose="02020603050405020304" pitchFamily="18" charset="0"/>
                <a:cs typeface="Times New Roman" panose="02020603050405020304" pitchFamily="18" charset="0"/>
                <a:sym typeface="+mn-ea"/>
              </a:rPr>
              <a:t>METHODOLOGY</a:t>
            </a:r>
            <a:endParaRPr lang="en-US"/>
          </a:p>
        </p:txBody>
      </p:sp>
      <p:sp>
        <p:nvSpPr>
          <p:cNvPr id="3" name="Content Placeholder 2"/>
          <p:cNvSpPr>
            <a:spLocks noGrp="1"/>
          </p:cNvSpPr>
          <p:nvPr>
            <p:ph idx="1"/>
          </p:nvPr>
        </p:nvSpPr>
        <p:spPr>
          <a:xfrm>
            <a:off x="4954905" y="1691640"/>
            <a:ext cx="6808470" cy="4925695"/>
          </a:xfrm>
        </p:spPr>
        <p:txBody>
          <a:bodyPr>
            <a:normAutofit lnSpcReduction="10000"/>
          </a:bodyPr>
          <a:p>
            <a:pPr marL="0" indent="0">
              <a:buNone/>
            </a:pPr>
            <a:r>
              <a:rPr lang="en-US" altLang="en-US" sz="2400">
                <a:latin typeface="Times New Roman" panose="02020603050405020304" pitchFamily="18" charset="0"/>
                <a:cs typeface="Times New Roman" panose="02020603050405020304" pitchFamily="18" charset="0"/>
              </a:rPr>
              <a:t>3. Addressing Class Imbalance with SMOTE + ENN:</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dataset suffered from class imbalance, as “no disease” cases were more frequent than “disease” cases. This imbalance could cause models to favor the majority class and miss true disease instances.</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 To overcome this issue, the SMOTE+ENN technique was applied to generate a cleaner, more balanced training dataset, thereby improving heart disease detection performance, including rare cases.</a:t>
            </a:r>
            <a:endParaRPr lang="en-US" altLang="en-US" sz="240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4.Final Output of Preprocessing:</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After preprocessing with KNN imputation, SMOTE+ENN, and standardization, the balanced dataset was ready for efficient HRAE-LSTM training and accurate heart disease prediction.</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sz="2400">
              <a:latin typeface="Times New Roman" panose="02020603050405020304" pitchFamily="18" charset="0"/>
              <a:cs typeface="Times New Roman" panose="02020603050405020304" pitchFamily="18" charset="0"/>
            </a:endParaRPr>
          </a:p>
          <a:p>
            <a:pPr marL="0" indent="0" algn="just">
              <a:buNone/>
            </a:pPr>
            <a:endParaRPr lang="en-US" altLang="en-US" sz="2400">
              <a:latin typeface="Times New Roman" panose="02020603050405020304" pitchFamily="18" charset="0"/>
              <a:cs typeface="Times New Roman" panose="02020603050405020304" pitchFamily="18" charset="0"/>
            </a:endParaRPr>
          </a:p>
        </p:txBody>
      </p:sp>
      <p:sp>
        <p:nvSpPr>
          <p:cNvPr id="4" name="Text Box 3"/>
          <p:cNvSpPr txBox="1"/>
          <p:nvPr/>
        </p:nvSpPr>
        <p:spPr>
          <a:xfrm>
            <a:off x="386080" y="1588135"/>
            <a:ext cx="4064000" cy="3533775"/>
          </a:xfrm>
          <a:prstGeom prst="rect">
            <a:avLst/>
          </a:prstGeom>
          <a:noFill/>
        </p:spPr>
        <p:txBody>
          <a:bodyPr wrap="square" rtlCol="0">
            <a:noAutofit/>
          </a:bodyPr>
          <a:p>
            <a:endParaRPr lang="en-US"/>
          </a:p>
        </p:txBody>
      </p:sp>
      <p:pic>
        <p:nvPicPr>
          <p:cNvPr id="5" name="Picture 4"/>
          <p:cNvPicPr>
            <a:picLocks noChangeAspect="1"/>
          </p:cNvPicPr>
          <p:nvPr/>
        </p:nvPicPr>
        <p:blipFill>
          <a:blip r:embed="rId1"/>
          <a:stretch>
            <a:fillRect/>
          </a:stretch>
        </p:blipFill>
        <p:spPr>
          <a:xfrm>
            <a:off x="736600" y="1691005"/>
            <a:ext cx="3492500" cy="3026410"/>
          </a:xfrm>
          <a:prstGeom prst="rect">
            <a:avLst/>
          </a:prstGeom>
        </p:spPr>
      </p:pic>
      <p:sp>
        <p:nvSpPr>
          <p:cNvPr id="6" name="Text Box 5"/>
          <p:cNvSpPr txBox="1"/>
          <p:nvPr/>
        </p:nvSpPr>
        <p:spPr>
          <a:xfrm>
            <a:off x="736600" y="4855845"/>
            <a:ext cx="4050665" cy="645160"/>
          </a:xfrm>
          <a:prstGeom prst="rect">
            <a:avLst/>
          </a:prstGeom>
          <a:noFill/>
        </p:spPr>
        <p:txBody>
          <a:bodyPr wrap="square" rtlCol="0">
            <a:spAutoFit/>
          </a:bodyPr>
          <a:p>
            <a:r>
              <a:rPr lang="en-US" altLang="en-US"/>
              <a:t> Class Distribution Before and After SMOTEENN</a:t>
            </a:r>
            <a:endParaRPr lang="en-US" altLang="en-US"/>
          </a:p>
        </p:txBody>
      </p:sp>
      <p:pic>
        <p:nvPicPr>
          <p:cNvPr id="7" name="Picture 6"/>
          <p:cNvPicPr>
            <a:picLocks noChangeAspect="1"/>
          </p:cNvPicPr>
          <p:nvPr/>
        </p:nvPicPr>
        <p:blipFill>
          <a:blip r:embed="rId2"/>
          <a:stretch>
            <a:fillRect/>
          </a:stretch>
        </p:blipFill>
        <p:spPr>
          <a:xfrm>
            <a:off x="-268" y="128680"/>
            <a:ext cx="3815596" cy="5791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270" y="33223"/>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METHODOLOGY</a:t>
            </a:r>
            <a:endParaRPr lang="en-IN" dirty="0"/>
          </a:p>
        </p:txBody>
      </p:sp>
      <p:sp>
        <p:nvSpPr>
          <p:cNvPr id="3" name="Content Placeholder 2"/>
          <p:cNvSpPr>
            <a:spLocks noGrp="1"/>
          </p:cNvSpPr>
          <p:nvPr>
            <p:ph idx="1"/>
          </p:nvPr>
        </p:nvSpPr>
        <p:spPr>
          <a:xfrm>
            <a:off x="956945" y="1666875"/>
            <a:ext cx="6296660" cy="5321935"/>
          </a:xfrm>
        </p:spPr>
        <p:txBody>
          <a:bodyPr>
            <a:normAutofit/>
          </a:bodyPr>
          <a:lstStyle/>
          <a:p>
            <a:pPr marL="0" indent="0" algn="just">
              <a:buNone/>
            </a:pPr>
            <a:r>
              <a:rPr lang="en-US" sz="2400" b="1" dirty="0" smtClean="0">
                <a:latin typeface="Times New Roman" panose="02020603050405020304" pitchFamily="18" charset="0"/>
                <a:cs typeface="Times New Roman" panose="02020603050405020304" pitchFamily="18" charset="0"/>
              </a:rPr>
              <a:t>C. Model Architecture &amp; Training</a:t>
            </a:r>
            <a:endParaRPr lang="en-US" sz="2400" b="1" dirty="0" smtClean="0">
              <a:latin typeface="Times New Roman" panose="02020603050405020304" pitchFamily="18" charset="0"/>
              <a:cs typeface="Times New Roman" panose="02020603050405020304" pitchFamily="18" charset="0"/>
            </a:endParaRPr>
          </a:p>
          <a:p>
            <a:pPr marL="0" indent="0" algn="just">
              <a:buNone/>
            </a:pPr>
            <a:r>
              <a:rPr lang="en-US" altLang="en-US" sz="2400" dirty="0" smtClean="0">
                <a:latin typeface="Times New Roman" panose="02020603050405020304" pitchFamily="18" charset="0"/>
                <a:cs typeface="Times New Roman" panose="02020603050405020304" pitchFamily="18" charset="0"/>
              </a:rPr>
              <a:t>1. Feature Scaling Using Standard Scaler:</a:t>
            </a: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The dataset features were standardized using the Standard Scaler to ensure equal contribution during training. </a:t>
            </a: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The HRAE-LSTM model uses residual attention layers and BiLSTM to capture important features and temporal dependencies. </a:t>
            </a: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smtClean="0">
                <a:latin typeface="Times New Roman" panose="02020603050405020304" pitchFamily="18" charset="0"/>
                <a:cs typeface="Times New Roman" panose="02020603050405020304" pitchFamily="18" charset="0"/>
              </a:rPr>
              <a:t>Dropout and dense layers improve generalization, while sigmoid activation outputs ischemic heart disease probability for binary classification.</a:t>
            </a: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sz="2400"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sz="2400" dirty="0" smtClean="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7253696" y="1792695"/>
            <a:ext cx="4720647" cy="2472055"/>
          </a:xfrm>
          <a:prstGeom prst="rect">
            <a:avLst/>
          </a:prstGeom>
        </p:spPr>
      </p:pic>
      <p:pic>
        <p:nvPicPr>
          <p:cNvPr id="5" name="Picture 4"/>
          <p:cNvPicPr>
            <a:picLocks noChangeAspect="1"/>
          </p:cNvPicPr>
          <p:nvPr/>
        </p:nvPicPr>
        <p:blipFill>
          <a:blip r:embed="rId2"/>
          <a:stretch>
            <a:fillRect/>
          </a:stretch>
        </p:blipFill>
        <p:spPr>
          <a:xfrm>
            <a:off x="0" y="134054"/>
            <a:ext cx="3810330" cy="579170"/>
          </a:xfrm>
          <a:prstGeom prst="rect">
            <a:avLst/>
          </a:prstGeom>
        </p:spPr>
      </p:pic>
      <p:sp>
        <p:nvSpPr>
          <p:cNvPr id="6" name="Text Box 5"/>
          <p:cNvSpPr txBox="1"/>
          <p:nvPr/>
        </p:nvSpPr>
        <p:spPr>
          <a:xfrm>
            <a:off x="7378065" y="4857750"/>
            <a:ext cx="4813935" cy="645160"/>
          </a:xfrm>
          <a:prstGeom prst="rect">
            <a:avLst/>
          </a:prstGeom>
          <a:noFill/>
        </p:spPr>
        <p:txBody>
          <a:bodyPr wrap="square" rtlCol="0">
            <a:spAutoFit/>
          </a:bodyPr>
          <a:p>
            <a:r>
              <a:rPr lang="en-US" altLang="en-US"/>
              <a:t>Design of the HRAE-LSTM Model Using Residual</a:t>
            </a:r>
            <a:endParaRPr lang="en-US" altLang="en-US"/>
          </a:p>
          <a:p>
            <a:r>
              <a:rPr lang="en-US" altLang="en-US"/>
              <a:t>Attention and Bidirectional LSTM</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smtClean="0">
                <a:latin typeface="Times New Roman" panose="02020603050405020304" pitchFamily="18" charset="0"/>
                <a:cs typeface="Times New Roman" panose="02020603050405020304" pitchFamily="18" charset="0"/>
                <a:sym typeface="+mn-ea"/>
              </a:rPr>
              <a:t>METHODOLOGY</a:t>
            </a:r>
            <a:endParaRPr lang="en-US"/>
          </a:p>
        </p:txBody>
      </p:sp>
      <p:sp>
        <p:nvSpPr>
          <p:cNvPr id="3" name="Content Placeholder 2"/>
          <p:cNvSpPr>
            <a:spLocks noGrp="1"/>
          </p:cNvSpPr>
          <p:nvPr>
            <p:ph idx="1"/>
          </p:nvPr>
        </p:nvSpPr>
        <p:spPr>
          <a:xfrm>
            <a:off x="1116330" y="1954530"/>
            <a:ext cx="9959340" cy="4351655"/>
          </a:xfrm>
        </p:spPr>
        <p:txBody>
          <a:bodyPr>
            <a:normAutofit lnSpcReduction="10000"/>
          </a:bodyPr>
          <a:p>
            <a:pPr marL="0" indent="0">
              <a:buNone/>
            </a:pPr>
            <a:r>
              <a:rPr lang="en-US" altLang="en-US" sz="2400" b="1">
                <a:latin typeface="Times New Roman" panose="02020603050405020304" pitchFamily="18" charset="0"/>
                <a:cs typeface="Times New Roman" panose="02020603050405020304" pitchFamily="18" charset="0"/>
              </a:rPr>
              <a:t>D. Model Training and Testing</a:t>
            </a:r>
            <a:endParaRPr lang="en-US" altLang="en-US" sz="2400" b="1">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To evaluate the robustness and accuracy of the HRAE-LSTM model, five-fold cross-validation was performed.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dataset was divided into five equal subsets, where four folds were used for training and one for testing in each iteration.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This process was repeated five times so every data sample appeared in the test set once, and final results were averaged to reduce bias.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Early stopping was applied to prevent overfitting by halting training when validation accuracy stopped improving.</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 Model performance was assessed using baseline classification accuracy and the Area Under the ROC Curve (AUC), ensuring an unbiased and reliable evaluation.</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68" y="-225"/>
            <a:ext cx="3815596" cy="5791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t>FRAMEWORK USED - HRAE–LSTM </a:t>
            </a:r>
            <a:endParaRPr lang="en-IN" b="1" dirty="0"/>
          </a:p>
        </p:txBody>
      </p:sp>
      <p:sp>
        <p:nvSpPr>
          <p:cNvPr id="3" name="Content Placeholder 2"/>
          <p:cNvSpPr>
            <a:spLocks noGrp="1"/>
          </p:cNvSpPr>
          <p:nvPr>
            <p:ph idx="1"/>
          </p:nvPr>
        </p:nvSpPr>
        <p:spPr/>
        <p:txBody>
          <a:bodyPr>
            <a:normAutofit/>
          </a:bodyPr>
          <a:lstStyle/>
          <a:p>
            <a:r>
              <a:rPr lang="en-IN" sz="2400" b="1" dirty="0" smtClean="0">
                <a:latin typeface="Times New Roman" panose="02020603050405020304" pitchFamily="18" charset="0"/>
                <a:cs typeface="Times New Roman" panose="02020603050405020304" pitchFamily="18" charset="0"/>
              </a:rPr>
              <a:t>Input Phase</a:t>
            </a:r>
            <a:endParaRPr lang="en-IN" sz="2400" b="1"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Processes normalized clinical data.</a:t>
            </a:r>
            <a:endParaRPr lang="en-IN" sz="2400" dirty="0" smtClean="0">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Residual Attention Module</a:t>
            </a:r>
            <a:endParaRPr lang="en-IN" sz="2400" b="1"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Extracts key features while preserving original context.</a:t>
            </a:r>
            <a:endParaRPr lang="en-IN" sz="2400" dirty="0" smtClean="0">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Bidirectional LSTM</a:t>
            </a:r>
            <a:endParaRPr lang="en-IN" sz="2400" b="1"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Captures bidirectional dependencies among patient attributes.</a:t>
            </a:r>
            <a:endParaRPr lang="en-IN" sz="2400" dirty="0" smtClean="0">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Classification &amp; Evaluation</a:t>
            </a:r>
            <a:endParaRPr lang="en-IN" sz="2400" b="1" dirty="0" smtClean="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Dense layers with sigmoid output classify disease; validated using stratified cross-validation, achieving </a:t>
            </a:r>
            <a:r>
              <a:rPr lang="en-IN" sz="2400" b="1" dirty="0" smtClean="0">
                <a:latin typeface="Times New Roman" panose="02020603050405020304" pitchFamily="18" charset="0"/>
                <a:cs typeface="Times New Roman" panose="02020603050405020304" pitchFamily="18" charset="0"/>
              </a:rPr>
              <a:t>98.9% accuracy</a:t>
            </a:r>
            <a:r>
              <a:rPr lang="en-IN" sz="2400" dirty="0" smtClean="0">
                <a:latin typeface="Times New Roman" panose="02020603050405020304" pitchFamily="18" charset="0"/>
                <a:cs typeface="Times New Roman" panose="02020603050405020304" pitchFamily="18" charset="0"/>
              </a:rPr>
              <a:t> and </a:t>
            </a:r>
            <a:r>
              <a:rPr lang="en-IN" sz="2400" b="1" dirty="0" smtClean="0">
                <a:latin typeface="Times New Roman" panose="02020603050405020304" pitchFamily="18" charset="0"/>
                <a:cs typeface="Times New Roman" panose="02020603050405020304" pitchFamily="18" charset="0"/>
              </a:rPr>
              <a:t>AUC = 1.00</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02161" y="75540"/>
            <a:ext cx="3810330" cy="57917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a:latin typeface="Times New Roman" panose="02020603050405020304" pitchFamily="18" charset="0"/>
                <a:cs typeface="Times New Roman" panose="02020603050405020304" pitchFamily="18" charset="0"/>
                <a:sym typeface="+mn-ea"/>
              </a:rPr>
              <a:t>Implementation</a:t>
            </a:r>
            <a:endParaRPr lang="en-US"/>
          </a:p>
        </p:txBody>
      </p:sp>
      <p:sp>
        <p:nvSpPr>
          <p:cNvPr id="3" name="Content Placeholder 2"/>
          <p:cNvSpPr>
            <a:spLocks noGrp="1"/>
          </p:cNvSpPr>
          <p:nvPr>
            <p:ph idx="1"/>
          </p:nvPr>
        </p:nvSpPr>
        <p:spPr>
          <a:xfrm>
            <a:off x="1277620" y="1939925"/>
            <a:ext cx="9856470" cy="4178935"/>
          </a:xfrm>
        </p:spPr>
        <p:txBody>
          <a:bodyPr>
            <a:normAutofit lnSpcReduction="10000"/>
          </a:bodyPr>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proposed HRAE–LSTM model was implemented using the Cleveland heart disease dataset.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Preprocessing included KNN imputation for missing values, SMOTE+ENN for class balancing, and standard scaling for feature normalization.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 model architecture integrated residual attention layers with a BiLSTM network to capture important clinical features and temporal dependencies.</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 Training was performed using stratified five-fold cross-validation with early stopping to prevent overfitting. </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Model performance was evaluated using accuracy and AUC metrics, ensuring reliable and unbiased results.</a:t>
            </a: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sz="24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68" y="166780"/>
            <a:ext cx="3815596" cy="5791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Requirements</a:t>
            </a:r>
            <a:endParaRPr lang="en-IN" dirty="0"/>
          </a:p>
        </p:txBody>
      </p:sp>
      <p:graphicFrame>
        <p:nvGraphicFramePr>
          <p:cNvPr id="5" name="Table 4"/>
          <p:cNvGraphicFramePr>
            <a:graphicFrameLocks noGrp="1"/>
          </p:cNvGraphicFramePr>
          <p:nvPr/>
        </p:nvGraphicFramePr>
        <p:xfrm>
          <a:off x="1332411" y="3831829"/>
          <a:ext cx="8453846" cy="1097280"/>
        </p:xfrm>
        <a:graphic>
          <a:graphicData uri="http://schemas.openxmlformats.org/drawingml/2006/table">
            <a:tbl>
              <a:tblPr/>
              <a:tblGrid>
                <a:gridCol w="4226923"/>
                <a:gridCol w="4226923"/>
              </a:tblGrid>
              <a:tr h="207124">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07124">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07124">
                <a:tc>
                  <a:txBody>
                    <a:bodyPr/>
                    <a:lstStyle/>
                    <a:p>
                      <a:endParaRPr lang="en-IN"/>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r>
            </a:tbl>
          </a:graphicData>
        </a:graphic>
      </p:graphicFrame>
      <p:sp>
        <p:nvSpPr>
          <p:cNvPr id="9" name="Content Placeholder 8"/>
          <p:cNvSpPr>
            <a:spLocks noGrp="1"/>
          </p:cNvSpPr>
          <p:nvPr>
            <p:ph idx="1"/>
          </p:nvPr>
        </p:nvSpPr>
        <p:spPr/>
        <p:txBody>
          <a:bodyPr>
            <a:normAutofit fontScale="85000" lnSpcReduction="20000"/>
          </a:bodyPr>
          <a:lstStyle/>
          <a:p>
            <a:pPr fontAlgn="ctr"/>
            <a:r>
              <a:rPr lang="en-IN"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fontAlgn="ctr"/>
            <a:r>
              <a:rPr lang="en-IN" b="1" dirty="0">
                <a:latin typeface="Times New Roman" panose="02020603050405020304" pitchFamily="18" charset="0"/>
                <a:cs typeface="Times New Roman" panose="02020603050405020304" pitchFamily="18" charset="0"/>
              </a:rPr>
              <a:t>Processor                                         </a:t>
            </a:r>
            <a:r>
              <a:rPr lang="en-IN" b="1" dirty="0" smtClean="0">
                <a:latin typeface="Times New Roman" panose="02020603050405020304" pitchFamily="18" charset="0"/>
                <a:cs typeface="Times New Roman" panose="02020603050405020304" pitchFamily="18" charset="0"/>
              </a:rPr>
              <a:t>  </a:t>
            </a:r>
            <a:r>
              <a:rPr lang="en-US" altLang="en-IN"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Intel Core i5 or higher</a:t>
            </a:r>
            <a:endParaRPr lang="en-IN" dirty="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RAM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8 GB minimum</a:t>
            </a:r>
            <a:endParaRPr lang="en-IN" dirty="0">
              <a:latin typeface="Times New Roman" panose="02020603050405020304" pitchFamily="18" charset="0"/>
              <a:cs typeface="Times New Roman" panose="02020603050405020304" pitchFamily="18" charset="0"/>
            </a:endParaRPr>
          </a:p>
          <a:p>
            <a:pPr fontAlgn="ctr"/>
            <a:r>
              <a:rPr lang="en-IN" b="1" dirty="0">
                <a:latin typeface="Times New Roman" panose="02020603050405020304" pitchFamily="18" charset="0"/>
                <a:cs typeface="Times New Roman" panose="02020603050405020304" pitchFamily="18" charset="0"/>
              </a:rPr>
              <a:t>Hard </a:t>
            </a:r>
            <a:r>
              <a:rPr lang="en-IN" b="1" dirty="0" smtClean="0">
                <a:latin typeface="Times New Roman" panose="02020603050405020304" pitchFamily="18" charset="0"/>
                <a:cs typeface="Times New Roman" panose="02020603050405020304" pitchFamily="18" charset="0"/>
              </a:rPr>
              <a:t>Disk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100 GB free space</a:t>
            </a:r>
            <a:endParaRPr lang="en-IN" dirty="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GPU                                                    </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NVIDIA T4 or equivalent</a:t>
            </a:r>
            <a:endParaRPr lang="en-IN" dirty="0">
              <a:latin typeface="Times New Roman" panose="02020603050405020304" pitchFamily="18" charset="0"/>
              <a:cs typeface="Times New Roman" panose="02020603050405020304" pitchFamily="18" charset="0"/>
            </a:endParaRPr>
          </a:p>
          <a:p>
            <a:pPr fontAlgn="ctr"/>
            <a:r>
              <a:rPr lang="en-IN" b="1" dirty="0">
                <a:latin typeface="Times New Roman" panose="02020603050405020304" pitchFamily="18" charset="0"/>
                <a:cs typeface="Times New Roman" panose="02020603050405020304" pitchFamily="18" charset="0"/>
              </a:rPr>
              <a:t>Software </a:t>
            </a:r>
            <a:r>
              <a:rPr lang="en-IN" b="1" dirty="0" smtClean="0">
                <a:latin typeface="Times New Roman" panose="02020603050405020304" pitchFamily="18" charset="0"/>
                <a:cs typeface="Times New Roman" panose="02020603050405020304" pitchFamily="18" charset="0"/>
              </a:rPr>
              <a:t>Requirements</a:t>
            </a:r>
            <a:endParaRPr lang="en-IN" b="1" dirty="0" smtClean="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 OS                                                       </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Windows 10 / 11 (64-bit)</a:t>
            </a:r>
            <a:endParaRPr lang="en-IN" dirty="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Language                                            </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Python 3.8+</a:t>
            </a:r>
            <a:endParaRPr lang="en-IN" dirty="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IDE                                                       :</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Google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a:t>
            </a:r>
            <a:endParaRPr lang="en-IN" dirty="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Libraries                                              :</a:t>
            </a:r>
            <a:r>
              <a:rPr lang="en-IN" dirty="0" smtClean="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TensorFlow</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Scikit</a:t>
            </a:r>
            <a:r>
              <a:rPr lang="en-IN" dirty="0">
                <a:latin typeface="Times New Roman" panose="02020603050405020304" pitchFamily="18" charset="0"/>
                <a:cs typeface="Times New Roman" panose="02020603050405020304" pitchFamily="18" charset="0"/>
              </a:rPr>
              <a:t>-learn, Pandas</a:t>
            </a:r>
            <a:endParaRPr lang="en-IN" dirty="0">
              <a:latin typeface="Times New Roman" panose="02020603050405020304" pitchFamily="18" charset="0"/>
              <a:cs typeface="Times New Roman" panose="02020603050405020304" pitchFamily="18" charset="0"/>
            </a:endParaRPr>
          </a:p>
          <a:p>
            <a:pPr fontAlgn="ctr"/>
            <a:r>
              <a:rPr lang="en-IN" b="1" dirty="0" smtClean="0">
                <a:latin typeface="Times New Roman" panose="02020603050405020304" pitchFamily="18" charset="0"/>
                <a:cs typeface="Times New Roman" panose="02020603050405020304" pitchFamily="18" charset="0"/>
              </a:rPr>
              <a:t>Browser                                              </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Latest Google Chrome</a:t>
            </a:r>
            <a:endParaRPr lang="en-IN" dirty="0">
              <a:latin typeface="Times New Roman" panose="02020603050405020304" pitchFamily="18" charset="0"/>
              <a:cs typeface="Times New Roman" panose="02020603050405020304" pitchFamily="18" charset="0"/>
            </a:endParaRPr>
          </a:p>
        </p:txBody>
      </p:sp>
      <p:graphicFrame>
        <p:nvGraphicFramePr>
          <p:cNvPr id="10" name="Content Placeholder 3"/>
          <p:cNvGraphicFramePr/>
          <p:nvPr/>
        </p:nvGraphicFramePr>
        <p:xfrm>
          <a:off x="5643154" y="6176963"/>
          <a:ext cx="3735978" cy="2194560"/>
        </p:xfrm>
        <a:graphic>
          <a:graphicData uri="http://schemas.openxmlformats.org/drawingml/2006/table">
            <a:tbl>
              <a:tblPr/>
              <a:tblGrid>
                <a:gridCol w="1867989"/>
                <a:gridCol w="1867989"/>
              </a:tblGrid>
              <a:tr h="280302">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80302">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80302">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80302">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80302">
                <a:tc>
                  <a:txBody>
                    <a:bodyPr/>
                    <a:lstStyle/>
                    <a:p>
                      <a:endParaRPr lang="en-IN"/>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280302">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r>
            </a:tbl>
          </a:graphicData>
        </a:graphic>
      </p:graphicFrame>
      <p:pic>
        <p:nvPicPr>
          <p:cNvPr id="11" name="Picture 10"/>
          <p:cNvPicPr>
            <a:picLocks noChangeAspect="1"/>
          </p:cNvPicPr>
          <p:nvPr/>
        </p:nvPicPr>
        <p:blipFill>
          <a:blip r:embed="rId1"/>
          <a:stretch>
            <a:fillRect/>
          </a:stretch>
        </p:blipFill>
        <p:spPr>
          <a:xfrm>
            <a:off x="128287" y="75540"/>
            <a:ext cx="3810330" cy="5791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Times New Roman" panose="02020603050405020304" pitchFamily="18" charset="0"/>
                <a:cs typeface="Times New Roman" panose="02020603050405020304" pitchFamily="18" charset="0"/>
                <a:sym typeface="+mn-ea"/>
              </a:rPr>
              <a:t>                Implementation of Frontend</a:t>
            </a:r>
            <a:endParaRPr lang="en-US"/>
          </a:p>
        </p:txBody>
      </p:sp>
      <p:pic>
        <p:nvPicPr>
          <p:cNvPr id="4" name="Content Placeholder 3"/>
          <p:cNvPicPr>
            <a:picLocks noChangeAspect="1"/>
          </p:cNvPicPr>
          <p:nvPr>
            <p:ph idx="1"/>
          </p:nvPr>
        </p:nvPicPr>
        <p:blipFill>
          <a:blip r:embed="rId1"/>
          <a:stretch>
            <a:fillRect/>
          </a:stretch>
        </p:blipFill>
        <p:spPr>
          <a:xfrm>
            <a:off x="838200" y="1518285"/>
            <a:ext cx="10681335" cy="4916170"/>
          </a:xfrm>
          <a:prstGeom prst="rect">
            <a:avLst/>
          </a:prstGeom>
        </p:spPr>
      </p:pic>
      <p:pic>
        <p:nvPicPr>
          <p:cNvPr id="5" name="Picture 4"/>
          <p:cNvPicPr>
            <a:picLocks noChangeAspect="1"/>
          </p:cNvPicPr>
          <p:nvPr/>
        </p:nvPicPr>
        <p:blipFill>
          <a:blip r:embed="rId2"/>
          <a:stretch>
            <a:fillRect/>
          </a:stretch>
        </p:blipFill>
        <p:spPr>
          <a:xfrm>
            <a:off x="-268" y="-225"/>
            <a:ext cx="3815596" cy="5791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a:latin typeface="Times New Roman" panose="02020603050405020304" pitchFamily="18" charset="0"/>
                <a:cs typeface="Times New Roman" panose="02020603050405020304" pitchFamily="18" charset="0"/>
                <a:sym typeface="+mn-ea"/>
              </a:rPr>
              <a:t>    Implementation of Frontend</a:t>
            </a:r>
            <a:endParaRPr lang="en-US"/>
          </a:p>
        </p:txBody>
      </p:sp>
      <p:pic>
        <p:nvPicPr>
          <p:cNvPr id="4" name="Content Placeholder 3"/>
          <p:cNvPicPr>
            <a:picLocks noChangeAspect="1"/>
          </p:cNvPicPr>
          <p:nvPr>
            <p:ph idx="1"/>
          </p:nvPr>
        </p:nvPicPr>
        <p:blipFill>
          <a:blip r:embed="rId1"/>
          <a:stretch>
            <a:fillRect/>
          </a:stretch>
        </p:blipFill>
        <p:spPr>
          <a:xfrm>
            <a:off x="945515" y="1298575"/>
            <a:ext cx="10507345" cy="5111750"/>
          </a:xfrm>
          <a:prstGeom prst="rect">
            <a:avLst/>
          </a:prstGeom>
        </p:spPr>
      </p:pic>
      <p:pic>
        <p:nvPicPr>
          <p:cNvPr id="5" name="Picture 4"/>
          <p:cNvPicPr>
            <a:picLocks noChangeAspect="1"/>
          </p:cNvPicPr>
          <p:nvPr/>
        </p:nvPicPr>
        <p:blipFill>
          <a:blip r:embed="rId2"/>
          <a:stretch>
            <a:fillRect/>
          </a:stretch>
        </p:blipFill>
        <p:spPr>
          <a:xfrm>
            <a:off x="-268" y="166780"/>
            <a:ext cx="3815596" cy="5791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Times New Roman" panose="02020603050405020304" pitchFamily="18" charset="0"/>
                <a:cs typeface="Times New Roman" panose="02020603050405020304" pitchFamily="18" charset="0"/>
                <a:sym typeface="+mn-ea"/>
              </a:rPr>
              <a:t>                 Implementation of Frontend</a:t>
            </a:r>
            <a:endParaRPr lang="en-US"/>
          </a:p>
        </p:txBody>
      </p:sp>
      <p:pic>
        <p:nvPicPr>
          <p:cNvPr id="6" name="Content Placeholder 5"/>
          <p:cNvPicPr>
            <a:picLocks noChangeAspect="1"/>
          </p:cNvPicPr>
          <p:nvPr>
            <p:ph idx="1"/>
          </p:nvPr>
        </p:nvPicPr>
        <p:blipFill>
          <a:blip r:embed="rId1"/>
          <a:stretch>
            <a:fillRect/>
          </a:stretch>
        </p:blipFill>
        <p:spPr>
          <a:xfrm>
            <a:off x="838200" y="1251585"/>
            <a:ext cx="10314305" cy="5075555"/>
          </a:xfrm>
          <a:prstGeom prst="rect">
            <a:avLst/>
          </a:prstGeom>
        </p:spPr>
      </p:pic>
      <p:pic>
        <p:nvPicPr>
          <p:cNvPr id="7" name="Picture 6"/>
          <p:cNvPicPr>
            <a:picLocks noChangeAspect="1"/>
          </p:cNvPicPr>
          <p:nvPr/>
        </p:nvPicPr>
        <p:blipFill>
          <a:blip r:embed="rId2"/>
          <a:stretch>
            <a:fillRect/>
          </a:stretch>
        </p:blipFill>
        <p:spPr>
          <a:xfrm>
            <a:off x="-268" y="147730"/>
            <a:ext cx="3815596" cy="5791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Times New Roman" panose="02020603050405020304" pitchFamily="18" charset="0"/>
                <a:cs typeface="Times New Roman" panose="02020603050405020304" pitchFamily="18" charset="0"/>
                <a:sym typeface="+mn-ea"/>
              </a:rPr>
              <a:t>                   Implementation of Frontend</a:t>
            </a:r>
            <a:endParaRPr lang="en-US"/>
          </a:p>
        </p:txBody>
      </p:sp>
      <p:pic>
        <p:nvPicPr>
          <p:cNvPr id="4" name="Content Placeholder 3"/>
          <p:cNvPicPr>
            <a:picLocks noChangeAspect="1"/>
          </p:cNvPicPr>
          <p:nvPr>
            <p:ph idx="1"/>
          </p:nvPr>
        </p:nvPicPr>
        <p:blipFill>
          <a:blip r:embed="rId1"/>
          <a:stretch>
            <a:fillRect/>
          </a:stretch>
        </p:blipFill>
        <p:spPr>
          <a:xfrm>
            <a:off x="838200" y="1363345"/>
            <a:ext cx="10612120" cy="4967605"/>
          </a:xfrm>
          <a:prstGeom prst="rect">
            <a:avLst/>
          </a:prstGeom>
        </p:spPr>
      </p:pic>
      <p:pic>
        <p:nvPicPr>
          <p:cNvPr id="5" name="Picture 4"/>
          <p:cNvPicPr>
            <a:picLocks noChangeAspect="1"/>
          </p:cNvPicPr>
          <p:nvPr/>
        </p:nvPicPr>
        <p:blipFill>
          <a:blip r:embed="rId2"/>
          <a:stretch>
            <a:fillRect/>
          </a:stretch>
        </p:blipFill>
        <p:spPr>
          <a:xfrm>
            <a:off x="-268" y="-225"/>
            <a:ext cx="3815596" cy="5791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Times New Roman" panose="02020603050405020304" pitchFamily="18" charset="0"/>
                <a:cs typeface="Times New Roman" panose="02020603050405020304" pitchFamily="18" charset="0"/>
                <a:sym typeface="+mn-ea"/>
              </a:rPr>
              <a:t>                   Implementation of Frontend</a:t>
            </a:r>
            <a:endParaRPr lang="en-US"/>
          </a:p>
        </p:txBody>
      </p:sp>
      <p:pic>
        <p:nvPicPr>
          <p:cNvPr id="4" name="Content Placeholder 3"/>
          <p:cNvPicPr>
            <a:picLocks noChangeAspect="1"/>
          </p:cNvPicPr>
          <p:nvPr>
            <p:ph idx="1"/>
          </p:nvPr>
        </p:nvPicPr>
        <p:blipFill>
          <a:blip r:embed="rId1"/>
          <a:stretch>
            <a:fillRect/>
          </a:stretch>
        </p:blipFill>
        <p:spPr>
          <a:xfrm>
            <a:off x="838200" y="1691005"/>
            <a:ext cx="10613390" cy="4933315"/>
          </a:xfrm>
          <a:prstGeom prst="rect">
            <a:avLst/>
          </a:prstGeom>
        </p:spPr>
      </p:pic>
      <p:pic>
        <p:nvPicPr>
          <p:cNvPr id="5" name="Picture 4"/>
          <p:cNvPicPr>
            <a:picLocks noChangeAspect="1"/>
          </p:cNvPicPr>
          <p:nvPr/>
        </p:nvPicPr>
        <p:blipFill>
          <a:blip r:embed="rId2"/>
          <a:stretch>
            <a:fillRect/>
          </a:stretch>
        </p:blipFill>
        <p:spPr>
          <a:xfrm>
            <a:off x="-268" y="-225"/>
            <a:ext cx="3815596" cy="5791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dirty="0">
                <a:latin typeface="Times New Roman" panose="02020603050405020304" pitchFamily="18" charset="0"/>
                <a:cs typeface="Times New Roman" panose="02020603050405020304" pitchFamily="18" charset="0"/>
                <a:sym typeface="+mn-ea"/>
              </a:rPr>
              <a:t>                 Implementation of Frontend</a:t>
            </a:r>
            <a:endParaRPr lang="en-US"/>
          </a:p>
        </p:txBody>
      </p:sp>
      <p:pic>
        <p:nvPicPr>
          <p:cNvPr id="4" name="Content Placeholder 3"/>
          <p:cNvPicPr>
            <a:picLocks noChangeAspect="1"/>
          </p:cNvPicPr>
          <p:nvPr>
            <p:ph idx="1"/>
          </p:nvPr>
        </p:nvPicPr>
        <p:blipFill>
          <a:blip r:embed="rId1"/>
          <a:stretch>
            <a:fillRect/>
          </a:stretch>
        </p:blipFill>
        <p:spPr>
          <a:xfrm>
            <a:off x="1015365" y="1602740"/>
            <a:ext cx="10161270" cy="4704715"/>
          </a:xfrm>
          <a:prstGeom prst="rect">
            <a:avLst/>
          </a:prstGeom>
        </p:spPr>
      </p:pic>
      <p:pic>
        <p:nvPicPr>
          <p:cNvPr id="6" name="Picture 5"/>
          <p:cNvPicPr>
            <a:picLocks noChangeAspect="1"/>
          </p:cNvPicPr>
          <p:nvPr/>
        </p:nvPicPr>
        <p:blipFill>
          <a:blip r:embed="rId2"/>
          <a:stretch>
            <a:fillRect/>
          </a:stretch>
        </p:blipFill>
        <p:spPr>
          <a:xfrm>
            <a:off x="-268" y="-225"/>
            <a:ext cx="3815596" cy="57917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992029"/>
          </a:xfrm>
        </p:spPr>
        <p:txBody>
          <a:bodyPr>
            <a:normAutofit/>
          </a:bodyPr>
          <a:lstStyle/>
          <a:p>
            <a:pPr algn="ctr"/>
            <a:r>
              <a:rPr lang="en-IN" b="1" dirty="0" smtClean="0">
                <a:latin typeface="Times New Roman" panose="02020603050405020304" pitchFamily="18" charset="0"/>
                <a:cs typeface="Times New Roman" panose="02020603050405020304" pitchFamily="18" charset="0"/>
              </a:rPr>
              <a:t>RESULTS &amp; ANALYSIS</a:t>
            </a:r>
            <a:br>
              <a:rPr lang="en-IN" b="1" dirty="0">
                <a:latin typeface="Times New Roman" panose="02020603050405020304" pitchFamily="18" charset="0"/>
                <a:cs typeface="Times New Roman" panose="02020603050405020304" pitchFamily="18" charset="0"/>
              </a:rPr>
            </a:br>
            <a:br>
              <a:rPr lang="en-IN" b="1" dirty="0" smtClean="0">
                <a:latin typeface="Times New Roman" panose="02020603050405020304" pitchFamily="18" charset="0"/>
                <a:cs typeface="Times New Roman" panose="02020603050405020304" pitchFamily="18" charset="0"/>
              </a:rPr>
            </a:br>
            <a:r>
              <a:rPr lang="en-US" sz="2400" b="1" u="sng" dirty="0" err="1" smtClean="0"/>
              <a:t>HRAEOverall</a:t>
            </a:r>
            <a:r>
              <a:rPr lang="en-US" sz="2400" b="1" u="sng" dirty="0" smtClean="0"/>
              <a:t> and Comparative Performance Analysis of the Proposed –LSTM Model</a:t>
            </a:r>
            <a:endParaRPr lang="en-IN" sz="2400" b="1" u="sng" dirty="0"/>
          </a:p>
        </p:txBody>
      </p:sp>
      <p:pic>
        <p:nvPicPr>
          <p:cNvPr id="4" name="Content Placeholder 3"/>
          <p:cNvPicPr>
            <a:picLocks noGrp="1" noChangeAspect="1"/>
          </p:cNvPicPr>
          <p:nvPr>
            <p:ph idx="1"/>
          </p:nvPr>
        </p:nvPicPr>
        <p:blipFill>
          <a:blip r:embed="rId1"/>
          <a:stretch>
            <a:fillRect/>
          </a:stretch>
        </p:blipFill>
        <p:spPr>
          <a:xfrm>
            <a:off x="259080" y="2758440"/>
            <a:ext cx="11574780" cy="3346450"/>
          </a:xfrm>
          <a:prstGeom prst="rect">
            <a:avLst/>
          </a:prstGeom>
        </p:spPr>
      </p:pic>
      <p:pic>
        <p:nvPicPr>
          <p:cNvPr id="5" name="Picture 4"/>
          <p:cNvPicPr>
            <a:picLocks noChangeAspect="1"/>
          </p:cNvPicPr>
          <p:nvPr/>
        </p:nvPicPr>
        <p:blipFill>
          <a:blip r:embed="rId2"/>
          <a:stretch>
            <a:fillRect/>
          </a:stretch>
        </p:blipFill>
        <p:spPr>
          <a:xfrm>
            <a:off x="258915" y="75540"/>
            <a:ext cx="3810330" cy="57917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latin typeface="Times New Roman" panose="02020603050405020304" pitchFamily="18" charset="0"/>
                <a:cs typeface="Times New Roman" panose="02020603050405020304" pitchFamily="18" charset="0"/>
              </a:rPr>
              <a:t>RESULTS &amp; ANALYSIS</a:t>
            </a:r>
            <a:endParaRPr lang="en-IN" dirty="0"/>
          </a:p>
        </p:txBody>
      </p:sp>
      <p:sp>
        <p:nvSpPr>
          <p:cNvPr id="3" name="Content Placeholder 2"/>
          <p:cNvSpPr>
            <a:spLocks noGrp="1"/>
          </p:cNvSpPr>
          <p:nvPr>
            <p:ph idx="1"/>
          </p:nvPr>
        </p:nvSpPr>
        <p:spPr>
          <a:xfrm>
            <a:off x="838200" y="1690688"/>
            <a:ext cx="5257800" cy="4305163"/>
          </a:xfrm>
        </p:spPr>
        <p:txBody>
          <a:bodyPr>
            <a:noAutofit/>
          </a:bodyPr>
          <a:lstStyle/>
          <a:p>
            <a:pPr algn="just"/>
            <a:r>
              <a:rPr lang="en-US" sz="2400" dirty="0" smtClean="0">
                <a:latin typeface="Times New Roman" panose="02020603050405020304" pitchFamily="18" charset="0"/>
                <a:cs typeface="Times New Roman" panose="02020603050405020304" pitchFamily="18" charset="0"/>
              </a:rPr>
              <a:t>The </a:t>
            </a:r>
            <a:r>
              <a:rPr lang="en-US" sz="2400" dirty="0" smtClean="0">
                <a:latin typeface="Times New Roman" panose="02020603050405020304" pitchFamily="18" charset="0"/>
                <a:cs typeface="Times New Roman" panose="02020603050405020304" pitchFamily="18" charset="0"/>
              </a:rPr>
              <a:t>HRAE–LSTM model, evaluated</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Using </a:t>
            </a:r>
            <a:r>
              <a:rPr lang="en-US" sz="2400" dirty="0" smtClean="0">
                <a:latin typeface="Times New Roman" panose="02020603050405020304" pitchFamily="18" charset="0"/>
                <a:cs typeface="Times New Roman" panose="02020603050405020304" pitchFamily="18" charset="0"/>
              </a:rPr>
              <a:t>stratified5-fold cross-validation, showed consistent accuracy across all folds with minimal variation,</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demonstrating strong generalization,</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stability, and reliability for real-world</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clinical deployment in ischemic heart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disease prediction. Accuracy achieved in each fold of the 5-fold stratified cross-validation.</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6096000" y="2273753"/>
            <a:ext cx="5069052" cy="2873013"/>
          </a:xfrm>
          <a:prstGeom prst="rect">
            <a:avLst/>
          </a:prstGeom>
        </p:spPr>
      </p:pic>
      <p:pic>
        <p:nvPicPr>
          <p:cNvPr id="5" name="Picture 4"/>
          <p:cNvPicPr>
            <a:picLocks noChangeAspect="1"/>
          </p:cNvPicPr>
          <p:nvPr/>
        </p:nvPicPr>
        <p:blipFill>
          <a:blip r:embed="rId2"/>
          <a:stretch>
            <a:fillRect/>
          </a:stretch>
        </p:blipFill>
        <p:spPr>
          <a:xfrm>
            <a:off x="0" y="159152"/>
            <a:ext cx="3810330" cy="5791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latin typeface="Times New Roman" panose="02020603050405020304" pitchFamily="18" charset="0"/>
                <a:cs typeface="Times New Roman" panose="02020603050405020304" pitchFamily="18" charset="0"/>
              </a:rPr>
              <a:t>RESULTS &amp; ANALYSIS</a:t>
            </a:r>
            <a:endParaRPr lang="en-IN" dirty="0"/>
          </a:p>
        </p:txBody>
      </p:sp>
      <p:sp>
        <p:nvSpPr>
          <p:cNvPr id="3" name="Content Placeholder 2"/>
          <p:cNvSpPr>
            <a:spLocks noGrp="1"/>
          </p:cNvSpPr>
          <p:nvPr>
            <p:ph idx="1"/>
          </p:nvPr>
        </p:nvSpPr>
        <p:spPr>
          <a:xfrm>
            <a:off x="838201" y="1907177"/>
            <a:ext cx="4556760" cy="4269786"/>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The confusion matrix shows perfect classification with no false positives or negatives, achieving 100% accuracy.</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This indicates excellent model performance, though it may also suggest possible overfitting or dataset simplicity.</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Accuracy achieved in each fold of the 5-fold stratified cross-validation.</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5771741" y="2090464"/>
            <a:ext cx="4835300" cy="3239181"/>
          </a:xfrm>
          <a:prstGeom prst="rect">
            <a:avLst/>
          </a:prstGeom>
        </p:spPr>
      </p:pic>
      <p:pic>
        <p:nvPicPr>
          <p:cNvPr id="5" name="Picture 4"/>
          <p:cNvPicPr>
            <a:picLocks noChangeAspect="1"/>
          </p:cNvPicPr>
          <p:nvPr/>
        </p:nvPicPr>
        <p:blipFill>
          <a:blip r:embed="rId2"/>
          <a:stretch>
            <a:fillRect/>
          </a:stretch>
        </p:blipFill>
        <p:spPr>
          <a:xfrm>
            <a:off x="193600" y="75540"/>
            <a:ext cx="3810330" cy="57917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latin typeface="Times New Roman" panose="02020603050405020304" pitchFamily="18" charset="0"/>
                <a:cs typeface="Times New Roman" panose="02020603050405020304" pitchFamily="18" charset="0"/>
              </a:rPr>
              <a:t>RESULTS &amp; ANALYSIS</a:t>
            </a:r>
            <a:endParaRPr lang="en-IN" dirty="0"/>
          </a:p>
        </p:txBody>
      </p:sp>
      <p:sp>
        <p:nvSpPr>
          <p:cNvPr id="3" name="Content Placeholder 2"/>
          <p:cNvSpPr>
            <a:spLocks noGrp="1"/>
          </p:cNvSpPr>
          <p:nvPr>
            <p:ph idx="1"/>
          </p:nvPr>
        </p:nvSpPr>
        <p:spPr>
          <a:xfrm>
            <a:off x="838200" y="1972491"/>
            <a:ext cx="5314406" cy="4204472"/>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The ROC curve shows excellent discrimination between diseased and healthy cases, with the curve near the top-left corner.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model achieved an AUC of 1.00 and 98.9% accuracy, indicating near-perfect classification performance.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ROC Curve of the HRAE–LSTM model showing True Positive Rate vs. False Positive Rate.</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6493600" y="1836352"/>
            <a:ext cx="4635954" cy="3560291"/>
          </a:xfrm>
          <a:prstGeom prst="rect">
            <a:avLst/>
          </a:prstGeom>
        </p:spPr>
      </p:pic>
      <p:pic>
        <p:nvPicPr>
          <p:cNvPr id="5" name="Picture 4"/>
          <p:cNvPicPr>
            <a:picLocks noChangeAspect="1"/>
          </p:cNvPicPr>
          <p:nvPr/>
        </p:nvPicPr>
        <p:blipFill>
          <a:blip r:embed="rId2"/>
          <a:stretch>
            <a:fillRect/>
          </a:stretch>
        </p:blipFill>
        <p:spPr>
          <a:xfrm>
            <a:off x="193601" y="75540"/>
            <a:ext cx="3810330" cy="57917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latin typeface="Times New Roman" panose="02020603050405020304" pitchFamily="18" charset="0"/>
                <a:cs typeface="Times New Roman" panose="02020603050405020304" pitchFamily="18" charset="0"/>
              </a:rPr>
              <a:t>CONCLUSION &amp; FUTURE SCOPE</a:t>
            </a:r>
            <a:endParaRPr lang="en-IN" dirty="0"/>
          </a:p>
        </p:txBody>
      </p:sp>
      <p:sp>
        <p:nvSpPr>
          <p:cNvPr id="3" name="Content Placeholder 2"/>
          <p:cNvSpPr>
            <a:spLocks noGrp="1"/>
          </p:cNvSpPr>
          <p:nvPr>
            <p:ph idx="1"/>
          </p:nvPr>
        </p:nvSpPr>
        <p:spPr/>
        <p:txBody>
          <a:bodyPr>
            <a:normAutofit/>
          </a:bodyPr>
          <a:lstStyle/>
          <a:p>
            <a:r>
              <a:rPr lang="en-IN" sz="2400" b="1" dirty="0" smtClean="0">
                <a:latin typeface="Times New Roman" panose="02020603050405020304" pitchFamily="18" charset="0"/>
                <a:cs typeface="Times New Roman" panose="02020603050405020304" pitchFamily="18" charset="0"/>
              </a:rPr>
              <a:t>CONCLUSION</a:t>
            </a:r>
            <a:endParaRPr lang="en-IN" sz="2400" b="1"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HRAE–LSTM model achieved 98.9% accuracy and AUC = 1.00, outperforming traditional models by effectively handling missing data, class imbalance, and complex clinical feature dependencies.</a:t>
            </a:r>
            <a:endParaRPr lang="en-IN"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FUTURE SCOPE</a:t>
            </a:r>
            <a:endParaRPr lang="en-IN" sz="2400" b="1"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Future work includes integrating the model into </a:t>
            </a:r>
            <a:r>
              <a:rPr lang="en-US" sz="2400" dirty="0" err="1" smtClean="0">
                <a:latin typeface="Times New Roman" panose="02020603050405020304" pitchFamily="18" charset="0"/>
                <a:cs typeface="Times New Roman" panose="02020603050405020304" pitchFamily="18" charset="0"/>
              </a:rPr>
              <a:t>IoT</a:t>
            </a:r>
            <a:r>
              <a:rPr lang="en-US" sz="2400" dirty="0" smtClean="0">
                <a:latin typeface="Times New Roman" panose="02020603050405020304" pitchFamily="18" charset="0"/>
                <a:cs typeface="Times New Roman" panose="02020603050405020304" pitchFamily="18" charset="0"/>
              </a:rPr>
              <a:t>-based devices for real-time monitoring, enhancing </a:t>
            </a:r>
            <a:r>
              <a:rPr lang="en-US" sz="2400" dirty="0" err="1" smtClean="0">
                <a:latin typeface="Times New Roman" panose="02020603050405020304" pitchFamily="18" charset="0"/>
                <a:cs typeface="Times New Roman" panose="02020603050405020304" pitchFamily="18" charset="0"/>
              </a:rPr>
              <a:t>explainability</a:t>
            </a:r>
            <a:r>
              <a:rPr lang="en-US" sz="2400" dirty="0" smtClean="0">
                <a:latin typeface="Times New Roman" panose="02020603050405020304" pitchFamily="18" charset="0"/>
                <a:cs typeface="Times New Roman" panose="02020603050405020304" pitchFamily="18" charset="0"/>
              </a:rPr>
              <a:t> (SHAP), applying federated learning, and improving computational efficiency for deployment.</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67475" y="8072"/>
            <a:ext cx="3810330" cy="5791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REFERENCES</a:t>
            </a:r>
            <a:endParaRPr lang="en-IN" sz="3600" dirty="0"/>
          </a:p>
        </p:txBody>
      </p:sp>
      <p:sp>
        <p:nvSpPr>
          <p:cNvPr id="3" name="Content Placeholder 2"/>
          <p:cNvSpPr>
            <a:spLocks noGrp="1"/>
          </p:cNvSpPr>
          <p:nvPr>
            <p:ph idx="1"/>
          </p:nvPr>
        </p:nvSpPr>
        <p:spPr>
          <a:xfrm>
            <a:off x="501650" y="1060450"/>
            <a:ext cx="11344910" cy="4911725"/>
          </a:xfrm>
        </p:spPr>
        <p:txBody>
          <a:bodyPr>
            <a:noAutofit/>
          </a:bodyPr>
          <a:lstStyle/>
          <a:p>
            <a:r>
              <a:rPr lang="en-US" altLang="en-US" sz="1800" dirty="0">
                <a:latin typeface="Times New Roman" panose="02020603050405020304" pitchFamily="18" charset="0"/>
                <a:cs typeface="Times New Roman" panose="02020603050405020304" pitchFamily="18" charset="0"/>
              </a:rPr>
              <a:t>[1] G. A. Roth, “Global burden of cardiovascular diseases and risk factors, 1990–2019: Update from the gbd 2019 study,” Journal of the American College of Cardiology, vol. 76, no. 25, pp. 2982–3021, Dec. 2020.</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[2] C. H. Lam, J. Y. Liu, and M. T. Cheung, “A global perspective on the economic evaluation of coronary artery disease diagnosis in low-resource settings,” Health Policy and Technology, vol. 12, no. 1, pp. 55–64, Mar 2023.</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[3] E. Dritsas and M. Trigka, “A convolutional recurrent neural network (cnn-gru) framework for clinical heart disease classification,” IEEE Access, vol. 10, pp. 83 290–83 303, 2022.</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[4] Y. Xu, R. Wang, J. Zhang, and H. Chen, “Cardiorisknet: A lightweight attention-based model for predicting cardiovascular risk,” Computers in Biology and Medicine, vol. 155, p. 106556, 2023.</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[5] H. Zhou, B. Wang, and M. Yang, “A comprehensive review of deep learning architectures for diagnosing cardiovascular diseases,” IEEE Reviews in Biomedical Engineering, vol. 16, pp. 17–32, 2023.</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[6] H. R. Mohan, “A comparative study of imputation techniques for missing data in medical datasets,” Biomedical Signal Processing and Control, vol. 61, 2020.</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[7] D. Ria, S. Sharma, and P. Gupta, “Effectiveness of standard scaling for enhancing machine learning prediction accuracy in cardiovascular datasets,” Processes, vol. 11, no. 4, pp. 1–12, Apr. 2023.</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[8] J. E. Steyerberg and J. P. A. Ioannidis, “Internal validation: split sample, cross validation, and bootstrap,” in Clinical Prediction Models. Springer, 2023, ch. 17, pp. 325–347.</a:t>
            </a:r>
            <a:endParaRPr lang="en-US" altLang="en-US" sz="1800" dirty="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sym typeface="+mn-ea"/>
              </a:rPr>
              <a:t>[9] D. Cenitta, S. F. Cracolici, and A. C. Vitabile, “A residual attention and lstm-based deep hybrid architecture for ischemic heart disease classification,” Multimedia Tools and Applications, vol. 82, pp. 31 323–31 347, 2023.</a:t>
            </a:r>
            <a:endParaRPr lang="en-US" altLang="en-US" sz="180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0" y="200272"/>
            <a:ext cx="3810330" cy="579170"/>
          </a:xfrm>
          <a:prstGeom prst="rect">
            <a:avLst/>
          </a:prstGeom>
        </p:spPr>
      </p:pic>
      <p:sp>
        <p:nvSpPr>
          <p:cNvPr id="5" name="Text Box 4"/>
          <p:cNvSpPr txBox="1"/>
          <p:nvPr/>
        </p:nvSpPr>
        <p:spPr>
          <a:xfrm>
            <a:off x="8898890" y="5193665"/>
            <a:ext cx="4064000" cy="368300"/>
          </a:xfrm>
          <a:prstGeom prst="rect">
            <a:avLst/>
          </a:prstGeom>
          <a:noFill/>
        </p:spPr>
        <p:txBody>
          <a:bodyPr wrap="square" rtlCol="0">
            <a:spAutoFit/>
          </a:bodyPr>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47750" y="0"/>
            <a:ext cx="10515600" cy="1325563"/>
          </a:xfrm>
        </p:spPr>
        <p:txBody>
          <a:bodyPr/>
          <a:p>
            <a:pPr algn="ctr"/>
            <a:r>
              <a:rPr lang="en-US" b="1" dirty="0" smtClean="0">
                <a:latin typeface="Times New Roman" panose="02020603050405020304" pitchFamily="18" charset="0"/>
                <a:cs typeface="Times New Roman" panose="02020603050405020304" pitchFamily="18" charset="0"/>
                <a:sym typeface="+mn-ea"/>
              </a:rPr>
              <a:t>REFERENCES</a:t>
            </a:r>
            <a:endParaRPr lang="en-US"/>
          </a:p>
        </p:txBody>
      </p:sp>
      <p:sp>
        <p:nvSpPr>
          <p:cNvPr id="3" name="Content Placeholder 2"/>
          <p:cNvSpPr>
            <a:spLocks noGrp="1"/>
          </p:cNvSpPr>
          <p:nvPr>
            <p:ph idx="1"/>
          </p:nvPr>
        </p:nvSpPr>
        <p:spPr>
          <a:xfrm>
            <a:off x="361950" y="1045210"/>
            <a:ext cx="11467465" cy="5532755"/>
          </a:xfrm>
        </p:spPr>
        <p:txBody>
          <a:bodyPr>
            <a:normAutofit fontScale="25000"/>
          </a:bodyPr>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[10] M. T. Garc´ı</a:t>
            </a:r>
            <a:r>
              <a:rPr lang="en-US" altLang="en-US" sz="7200">
                <a:latin typeface="Times New Roman" panose="02020603050405020304" pitchFamily="18" charset="0"/>
                <a:cs typeface="Times New Roman" panose="02020603050405020304" pitchFamily="18" charset="0"/>
              </a:rPr>
              <a:t>a-Ordas, L. Benedi, J. C. G. Alonso, and C. L. Gonz ´ alez, “Heart failure detection using convolutional neural networks combined with stacked autoencoders,” Biomedicines, vol. 11, no. 1, p. 64, Jan. 2023.</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[11] D. Sahu, S. Panda, S. S. Shinde, A. Singh, and S. Pandey, “Deep learning with attention mechanisms for cardiovascular disease detection,” Applied Intelligence, 2025, [Online]. Available: https://link.springer.com/article/10.1007/s10462-024-10899-9.</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[12] D. Dua and C. Graff, “Heart disease data set,” 2019, uCI Machine Learning Repository, University California, Irvine. [Online]. Available: https://archive.ics.uci.edu/ml/datasets/Heart+Disease.</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[13] M. Elreedy, M. Elhoseny, and A. Hassanien, “A combined smote and enn technique to handle class      imbalance for heart disease prediction,”Sensors, vol. 23, no. 1, p. 110, Jan. 2023.</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[14] S. Sunayna, S. Rao, and M. Sireesha, “Performance evaluation of machine learning algorithms to predict breast cancer,” in Computational Intelligence in Data Mining, ser. Smart Innovation, Systems and Technologies, J. Nayak, H. Behera, B. Naik, Vimal, and D. Pelusi, Eds.Singapore: Springer, 2022, vol. 281, pp. xx–xx.</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[15] R. K. Eluri, “Ai-powered early detection of genetic disorders in fetuses using machine learning models,”Proceedings of the 2024 First International Conference for Women in Computing (InCoWoCo). Pune, India: IEEE, 2024, pp. 1–7.</a:t>
            </a:r>
            <a:endParaRPr lang="en-US" altLang="en-US" sz="7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7200">
                <a:latin typeface="Times New Roman" panose="02020603050405020304" pitchFamily="18" charset="0"/>
                <a:cs typeface="Times New Roman" panose="02020603050405020304" pitchFamily="18" charset="0"/>
              </a:rPr>
              <a:t>[16] D. Venkatareddy, K. V. N. Reddy, Y. Sowmya, Y. Madhavi, S. C.Asmi, and S. Moturi, “Explainable fetal ultrasound classification with cnn and mlp models,” in Proceedings of the 2024 First International Conference on Innovations in Communications, Electrical and Computer Engineering (ICICEC). Davangere, India: IEEE, 2024, pp. 1–7</a:t>
            </a:r>
            <a:endParaRPr lang="en-US" altLang="en-US" sz="720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26097" y="-225"/>
            <a:ext cx="3815596" cy="57917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3390"/>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 ACKNOWLEDGEMENTS</a:t>
            </a:r>
            <a:endParaRPr lang="en-IN" dirty="0"/>
          </a:p>
        </p:txBody>
      </p:sp>
      <p:sp>
        <p:nvSpPr>
          <p:cNvPr id="3" name="Content Placeholder 2"/>
          <p:cNvSpPr>
            <a:spLocks noGrp="1"/>
          </p:cNvSpPr>
          <p:nvPr>
            <p:ph idx="1"/>
          </p:nvPr>
        </p:nvSpPr>
        <p:spPr>
          <a:xfrm>
            <a:off x="838200" y="1691005"/>
            <a:ext cx="11042650" cy="4351655"/>
          </a:xfrm>
        </p:spPr>
        <p:txBody>
          <a:bodyPr>
            <a:noAutofit/>
          </a:bodyPr>
          <a:lstStyle/>
          <a:p>
            <a:pPr algn="just"/>
            <a:r>
              <a:rPr lang="en-US" sz="2400" dirty="0">
                <a:latin typeface="Times New Roman" panose="02020603050405020304" pitchFamily="18" charset="0"/>
                <a:cs typeface="Times New Roman" panose="02020603050405020304" pitchFamily="18" charset="0"/>
              </a:rPr>
              <a:t>We would like to express our sincere gratitude to the faculty and staff of </a:t>
            </a:r>
            <a:r>
              <a:rPr lang="en-US" sz="2400" dirty="0" err="1">
                <a:latin typeface="Times New Roman" panose="02020603050405020304" pitchFamily="18" charset="0"/>
                <a:cs typeface="Times New Roman" panose="02020603050405020304" pitchFamily="18" charset="0"/>
              </a:rPr>
              <a:t>Narasaraopeta</a:t>
            </a:r>
            <a:r>
              <a:rPr lang="en-US" sz="2400"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 any questions or further discussions, feel free to reach out:-</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Team No:BG12</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Guide</a:t>
            </a:r>
            <a:r>
              <a:rPr lang="en-US"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Gayatri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Panchumarthi</a:t>
            </a:r>
            <a:endParaRPr lang="en-US" altLang="en-US" sz="2400" dirty="0">
              <a:solidFill>
                <a:srgbClr val="006600"/>
              </a:solidFill>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Roll </a:t>
            </a:r>
            <a:r>
              <a:rPr lang="en-US" sz="2400" dirty="0">
                <a:latin typeface="Times New Roman" panose="02020603050405020304" pitchFamily="18" charset="0"/>
                <a:cs typeface="Times New Roman" panose="02020603050405020304" pitchFamily="18" charset="0"/>
              </a:rPr>
              <a:t>No’s: </a:t>
            </a:r>
            <a:r>
              <a:rPr lang="en-US" sz="2400" dirty="0" smtClean="0">
                <a:latin typeface="Times New Roman" panose="02020603050405020304" pitchFamily="18" charset="0"/>
                <a:cs typeface="Times New Roman" panose="02020603050405020304" pitchFamily="18" charset="0"/>
              </a:rPr>
              <a:t>22471A05D7</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22471A05D2</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22471A05C7</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0" y="230188"/>
            <a:ext cx="3810330" cy="57917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1" y="2807879"/>
            <a:ext cx="10515600" cy="1325563"/>
          </a:xfrm>
        </p:spPr>
        <p:txBody>
          <a:bodyPr>
            <a:noAutofit/>
          </a:bodyPr>
          <a:lstStyle/>
          <a:p>
            <a:pPr algn="ctr"/>
            <a:r>
              <a:rPr lang="en-US" sz="9600" b="1" dirty="0" smtClean="0"/>
              <a:t>Thank You.</a:t>
            </a:r>
            <a:endParaRPr lang="en-IN" sz="9600" b="1" dirty="0"/>
          </a:p>
        </p:txBody>
      </p:sp>
      <p:pic>
        <p:nvPicPr>
          <p:cNvPr id="3" name="Picture 2"/>
          <p:cNvPicPr>
            <a:picLocks noChangeAspect="1"/>
          </p:cNvPicPr>
          <p:nvPr/>
        </p:nvPicPr>
        <p:blipFill>
          <a:blip r:embed="rId1"/>
          <a:stretch>
            <a:fillRect/>
          </a:stretch>
        </p:blipFill>
        <p:spPr>
          <a:xfrm>
            <a:off x="180538" y="174147"/>
            <a:ext cx="3810330" cy="5791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22062</Words>
  <Application>WPS Presentation</Application>
  <PresentationFormat>Widescreen</PresentationFormat>
  <Paragraphs>303</Paragraphs>
  <Slides>41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41</vt:i4>
      </vt:variant>
    </vt:vector>
  </HeadingPairs>
  <TitlesOfParts>
    <vt:vector size="50" baseType="lpstr">
      <vt:lpstr>Arial</vt:lpstr>
      <vt:lpstr>SimSun</vt:lpstr>
      <vt:lpstr>Wingdings</vt:lpstr>
      <vt:lpstr>Times New Roman</vt:lpstr>
      <vt:lpstr>Calibri</vt:lpstr>
      <vt:lpstr>Microsoft YaHei</vt:lpstr>
      <vt:lpstr>Arial Unicode MS</vt:lpstr>
      <vt:lpstr>Calibri Light</vt:lpstr>
      <vt:lpstr>Office Theme</vt:lpstr>
      <vt:lpstr>   </vt:lpstr>
      <vt:lpstr>OUTLINE</vt:lpstr>
      <vt:lpstr>ABSTRACT</vt:lpstr>
      <vt:lpstr>ABSTRACT</vt:lpstr>
      <vt:lpstr>INTRODUCTION</vt:lpstr>
      <vt:lpstr>INTRODUCTION</vt:lpstr>
      <vt:lpstr>LITERATURE SURVEY</vt:lpstr>
      <vt:lpstr>LITERATURE SURVEY</vt:lpstr>
      <vt:lpstr>LITERATURE SURVEY</vt:lpstr>
      <vt:lpstr>RESEARCH GAPS</vt:lpstr>
      <vt:lpstr>RESEARCH GAPS</vt:lpstr>
      <vt:lpstr>PROBLEM STATEMENT</vt:lpstr>
      <vt:lpstr>PROBLEM STATEMENT</vt:lpstr>
      <vt:lpstr>OBJECTIVES</vt:lpstr>
      <vt:lpstr>OBJECTIVES</vt:lpstr>
      <vt:lpstr>BLOCK DIAGRAM OR FLOW DIAGRAM</vt:lpstr>
      <vt:lpstr>METHODOLOGY</vt:lpstr>
      <vt:lpstr>METHODOLOGY</vt:lpstr>
      <vt:lpstr>METHODOLOGY</vt:lpstr>
      <vt:lpstr>METHODOLOGY</vt:lpstr>
      <vt:lpstr>METHODOLOGY</vt:lpstr>
      <vt:lpstr>METHODOLOGY</vt:lpstr>
      <vt:lpstr>METHODOLOGY</vt:lpstr>
      <vt:lpstr>FRAMEWORK USED - HRAE–LSTM </vt:lpstr>
      <vt:lpstr>Implementation</vt:lpstr>
      <vt:lpstr>System Requirements</vt:lpstr>
      <vt:lpstr>                Implementation of Frontend</vt:lpstr>
      <vt:lpstr>    Implementation of Frontend</vt:lpstr>
      <vt:lpstr>                 Implementation of Frontend</vt:lpstr>
      <vt:lpstr>                   Implementation of Frontend</vt:lpstr>
      <vt:lpstr>                   Implementation of Frontend</vt:lpstr>
      <vt:lpstr>                 Implementation of Frontend</vt:lpstr>
      <vt:lpstr>RESULTS &amp; ANALYSIS  HRAEOverall and Comparative Performance Analysis of the Proposed –LSTM Model</vt:lpstr>
      <vt:lpstr>RESULTS &amp; ANALYSIS</vt:lpstr>
      <vt:lpstr>RESULTS &amp; ANALYSIS</vt:lpstr>
      <vt:lpstr>RESULTS &amp; ANALYSIS</vt:lpstr>
      <vt:lpstr>CONCLUSION &amp; FUTURE SCOPE</vt:lpstr>
      <vt:lpstr>REFERENCES</vt:lpstr>
      <vt:lpstr>REFERENCES</vt:lpstr>
      <vt:lpstr> ACKNOWLEDGEMENTS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HI</dc:creator>
  <cp:lastModifiedBy>Afreen Neha</cp:lastModifiedBy>
  <cp:revision>33</cp:revision>
  <dcterms:created xsi:type="dcterms:W3CDTF">2025-11-10T16:32:00Z</dcterms:created>
  <dcterms:modified xsi:type="dcterms:W3CDTF">2026-02-05T10:11:06Z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628F68FCCE044E7B98BC7EB429D17443_13</vt:lpwstr>
  </property>
  <property fmtid="{D5CDD505-2E9C-101B-9397-08002B2CF9AE}" pid="3" name="KSOProductBuildVer">
    <vt:lpwstr>1033-12.2.0.23196</vt:lpwstr>
  </property>
</Properties>
</file>